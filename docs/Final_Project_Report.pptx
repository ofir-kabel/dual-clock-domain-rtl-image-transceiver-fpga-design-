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58" r:id="rId2"/>
    <p:sldId id="265" r:id="rId3"/>
    <p:sldId id="259" r:id="rId4"/>
    <p:sldId id="264" r:id="rId5"/>
    <p:sldId id="266" r:id="rId6"/>
    <p:sldId id="267" r:id="rId7"/>
    <p:sldId id="263" r:id="rId8"/>
    <p:sldId id="268" r:id="rId9"/>
    <p:sldId id="269" r:id="rId10"/>
    <p:sldId id="270" r:id="rId11"/>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9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5223" autoAdjust="0"/>
  </p:normalViewPr>
  <p:slideViewPr>
    <p:cSldViewPr snapToGrid="0" showGuides="1">
      <p:cViewPr>
        <p:scale>
          <a:sx n="100" d="100"/>
          <a:sy n="100" d="100"/>
        </p:scale>
        <p:origin x="1410" y="-2238"/>
      </p:cViewPr>
      <p:guideLst>
        <p:guide orient="horz" pos="3096"/>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A470E-0A2A-416D-BDC8-6F21E347DCA9}" type="datetimeFigureOut">
              <a:rPr lang="en-IL" smtClean="0"/>
              <a:t>02/13/2026</a:t>
            </a:fld>
            <a:endParaRPr lang="en-IL"/>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B34BC-2BAD-4325-9221-DEC438B3932D}" type="slidenum">
              <a:rPr lang="en-IL" smtClean="0"/>
              <a:t>‹#›</a:t>
            </a:fld>
            <a:endParaRPr lang="en-IL"/>
          </a:p>
        </p:txBody>
      </p:sp>
    </p:spTree>
    <p:extLst>
      <p:ext uri="{BB962C8B-B14F-4D97-AF65-F5344CB8AC3E}">
        <p14:creationId xmlns:p14="http://schemas.microsoft.com/office/powerpoint/2010/main" val="1082707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D3C93-5657-F568-4C07-C653DC452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03829-4B62-02C5-E439-0AAACE3C7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D1C89-52FF-1AE8-E2CA-CABFAC3AC3E3}"/>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5952762D-3115-8440-75FA-28E11BAC35C8}"/>
              </a:ext>
            </a:extLst>
          </p:cNvPr>
          <p:cNvSpPr>
            <a:spLocks noGrp="1"/>
          </p:cNvSpPr>
          <p:nvPr>
            <p:ph type="sldNum" sz="quarter" idx="5"/>
          </p:nvPr>
        </p:nvSpPr>
        <p:spPr/>
        <p:txBody>
          <a:bodyPr/>
          <a:lstStyle/>
          <a:p>
            <a:fld id="{7B4B34BC-2BAD-4325-9221-DEC438B3932D}" type="slidenum">
              <a:rPr lang="en-IL" smtClean="0"/>
              <a:t>1</a:t>
            </a:fld>
            <a:endParaRPr lang="en-IL"/>
          </a:p>
        </p:txBody>
      </p:sp>
    </p:spTree>
    <p:extLst>
      <p:ext uri="{BB962C8B-B14F-4D97-AF65-F5344CB8AC3E}">
        <p14:creationId xmlns:p14="http://schemas.microsoft.com/office/powerpoint/2010/main" val="1796760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1E64B-8442-0EB0-1B94-79723CF73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2FE3A-EE5C-CB8C-6A20-3C2D9F995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86D8F-675B-D4CC-9A31-2383336F4331}"/>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CFD2BCAD-6EB7-7FA3-9FC3-9981527C50D1}"/>
              </a:ext>
            </a:extLst>
          </p:cNvPr>
          <p:cNvSpPr>
            <a:spLocks noGrp="1"/>
          </p:cNvSpPr>
          <p:nvPr>
            <p:ph type="sldNum" sz="quarter" idx="5"/>
          </p:nvPr>
        </p:nvSpPr>
        <p:spPr/>
        <p:txBody>
          <a:bodyPr/>
          <a:lstStyle/>
          <a:p>
            <a:fld id="{7B4B34BC-2BAD-4325-9221-DEC438B3932D}" type="slidenum">
              <a:rPr lang="en-IL" smtClean="0"/>
              <a:t>2</a:t>
            </a:fld>
            <a:endParaRPr lang="en-IL"/>
          </a:p>
        </p:txBody>
      </p:sp>
    </p:spTree>
    <p:extLst>
      <p:ext uri="{BB962C8B-B14F-4D97-AF65-F5344CB8AC3E}">
        <p14:creationId xmlns:p14="http://schemas.microsoft.com/office/powerpoint/2010/main" val="3360770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14BA7-3521-DE02-69CF-F2814A10C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680A6-9D2A-5EBA-A9FA-FDA087E8D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6F5ECC-8BA1-8FEC-E2B5-5DFDEEE46AC3}"/>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FCFBB10D-BF4F-559A-5858-A8456D989535}"/>
              </a:ext>
            </a:extLst>
          </p:cNvPr>
          <p:cNvSpPr>
            <a:spLocks noGrp="1"/>
          </p:cNvSpPr>
          <p:nvPr>
            <p:ph type="sldNum" sz="quarter" idx="5"/>
          </p:nvPr>
        </p:nvSpPr>
        <p:spPr/>
        <p:txBody>
          <a:bodyPr/>
          <a:lstStyle/>
          <a:p>
            <a:fld id="{7B4B34BC-2BAD-4325-9221-DEC438B3932D}" type="slidenum">
              <a:rPr lang="en-IL" smtClean="0"/>
              <a:t>3</a:t>
            </a:fld>
            <a:endParaRPr lang="en-IL"/>
          </a:p>
        </p:txBody>
      </p:sp>
    </p:spTree>
    <p:extLst>
      <p:ext uri="{BB962C8B-B14F-4D97-AF65-F5344CB8AC3E}">
        <p14:creationId xmlns:p14="http://schemas.microsoft.com/office/powerpoint/2010/main" val="3795064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C2DF4-A17F-DF01-5282-F9475784B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7DA6D-BFE3-1290-99F0-BF52E7524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B3650-0B7E-1DD3-9096-212BF40ED55A}"/>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8C86FACE-AADC-4A48-8F46-0A8743E2BE6B}"/>
              </a:ext>
            </a:extLst>
          </p:cNvPr>
          <p:cNvSpPr>
            <a:spLocks noGrp="1"/>
          </p:cNvSpPr>
          <p:nvPr>
            <p:ph type="sldNum" sz="quarter" idx="5"/>
          </p:nvPr>
        </p:nvSpPr>
        <p:spPr/>
        <p:txBody>
          <a:bodyPr/>
          <a:lstStyle/>
          <a:p>
            <a:fld id="{7B4B34BC-2BAD-4325-9221-DEC438B3932D}" type="slidenum">
              <a:rPr lang="en-IL" smtClean="0"/>
              <a:t>4</a:t>
            </a:fld>
            <a:endParaRPr lang="en-IL"/>
          </a:p>
        </p:txBody>
      </p:sp>
    </p:spTree>
    <p:extLst>
      <p:ext uri="{BB962C8B-B14F-4D97-AF65-F5344CB8AC3E}">
        <p14:creationId xmlns:p14="http://schemas.microsoft.com/office/powerpoint/2010/main" val="3510042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9B08-2C3D-20FC-6115-C9C8683B3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92DF9-711D-D46E-25AC-21D50A41E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B4147-D26E-1FBF-7590-54477F1F75BE}"/>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B84CDA15-D137-2CF7-D89A-7E9640A32DAE}"/>
              </a:ext>
            </a:extLst>
          </p:cNvPr>
          <p:cNvSpPr>
            <a:spLocks noGrp="1"/>
          </p:cNvSpPr>
          <p:nvPr>
            <p:ph type="sldNum" sz="quarter" idx="5"/>
          </p:nvPr>
        </p:nvSpPr>
        <p:spPr/>
        <p:txBody>
          <a:bodyPr/>
          <a:lstStyle/>
          <a:p>
            <a:fld id="{7B4B34BC-2BAD-4325-9221-DEC438B3932D}" type="slidenum">
              <a:rPr lang="en-IL" smtClean="0"/>
              <a:t>5</a:t>
            </a:fld>
            <a:endParaRPr lang="en-IL"/>
          </a:p>
        </p:txBody>
      </p:sp>
    </p:spTree>
    <p:extLst>
      <p:ext uri="{BB962C8B-B14F-4D97-AF65-F5344CB8AC3E}">
        <p14:creationId xmlns:p14="http://schemas.microsoft.com/office/powerpoint/2010/main" val="1038331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8BE18-EC27-0D82-1084-13E3F77B5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919AE-2A94-AF6F-6EDD-F13B11563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5CAEF-82BD-6345-8010-C13DD9D5C586}"/>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A015FA37-6798-5DDE-7F86-71BD820BBEEF}"/>
              </a:ext>
            </a:extLst>
          </p:cNvPr>
          <p:cNvSpPr>
            <a:spLocks noGrp="1"/>
          </p:cNvSpPr>
          <p:nvPr>
            <p:ph type="sldNum" sz="quarter" idx="5"/>
          </p:nvPr>
        </p:nvSpPr>
        <p:spPr/>
        <p:txBody>
          <a:bodyPr/>
          <a:lstStyle/>
          <a:p>
            <a:fld id="{7B4B34BC-2BAD-4325-9221-DEC438B3932D}" type="slidenum">
              <a:rPr lang="en-IL" smtClean="0"/>
              <a:t>6</a:t>
            </a:fld>
            <a:endParaRPr lang="en-IL"/>
          </a:p>
        </p:txBody>
      </p:sp>
    </p:spTree>
    <p:extLst>
      <p:ext uri="{BB962C8B-B14F-4D97-AF65-F5344CB8AC3E}">
        <p14:creationId xmlns:p14="http://schemas.microsoft.com/office/powerpoint/2010/main" val="1771931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4657A-9C7B-F477-6A9D-A42369E52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64538-A11C-E5EB-4C85-FA4508BEE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5C7BD-154A-3A1C-1B61-65064007D3A2}"/>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A2FA3198-D137-BAE7-23B1-7F05EEC9FC6D}"/>
              </a:ext>
            </a:extLst>
          </p:cNvPr>
          <p:cNvSpPr>
            <a:spLocks noGrp="1"/>
          </p:cNvSpPr>
          <p:nvPr>
            <p:ph type="sldNum" sz="quarter" idx="5"/>
          </p:nvPr>
        </p:nvSpPr>
        <p:spPr/>
        <p:txBody>
          <a:bodyPr/>
          <a:lstStyle/>
          <a:p>
            <a:fld id="{7B4B34BC-2BAD-4325-9221-DEC438B3932D}" type="slidenum">
              <a:rPr lang="en-IL" smtClean="0"/>
              <a:t>7</a:t>
            </a:fld>
            <a:endParaRPr lang="en-IL"/>
          </a:p>
        </p:txBody>
      </p:sp>
    </p:spTree>
    <p:extLst>
      <p:ext uri="{BB962C8B-B14F-4D97-AF65-F5344CB8AC3E}">
        <p14:creationId xmlns:p14="http://schemas.microsoft.com/office/powerpoint/2010/main" val="278981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BB376-763E-D19C-724D-4840CEE6A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32A69-4FF4-5DFA-19E7-1D8C3D6C1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81FFD-B920-7348-35D7-3AA484E30315}"/>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13A11E40-A777-03BE-6A49-F444DDBF987A}"/>
              </a:ext>
            </a:extLst>
          </p:cNvPr>
          <p:cNvSpPr>
            <a:spLocks noGrp="1"/>
          </p:cNvSpPr>
          <p:nvPr>
            <p:ph type="sldNum" sz="quarter" idx="5"/>
          </p:nvPr>
        </p:nvSpPr>
        <p:spPr/>
        <p:txBody>
          <a:bodyPr/>
          <a:lstStyle/>
          <a:p>
            <a:fld id="{7B4B34BC-2BAD-4325-9221-DEC438B3932D}" type="slidenum">
              <a:rPr lang="en-IL" smtClean="0"/>
              <a:t>8</a:t>
            </a:fld>
            <a:endParaRPr lang="en-IL"/>
          </a:p>
        </p:txBody>
      </p:sp>
    </p:spTree>
    <p:extLst>
      <p:ext uri="{BB962C8B-B14F-4D97-AF65-F5344CB8AC3E}">
        <p14:creationId xmlns:p14="http://schemas.microsoft.com/office/powerpoint/2010/main" val="2119510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CB56C-C8A1-9540-909A-9E0D6C918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FC400-B0F0-9C79-51E9-6C03587C4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538B5-6F8E-614C-A087-0DED30DC11E3}"/>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D7A86720-3532-08CE-3AD1-6E017F6BF658}"/>
              </a:ext>
            </a:extLst>
          </p:cNvPr>
          <p:cNvSpPr>
            <a:spLocks noGrp="1"/>
          </p:cNvSpPr>
          <p:nvPr>
            <p:ph type="sldNum" sz="quarter" idx="5"/>
          </p:nvPr>
        </p:nvSpPr>
        <p:spPr/>
        <p:txBody>
          <a:bodyPr/>
          <a:lstStyle/>
          <a:p>
            <a:fld id="{7B4B34BC-2BAD-4325-9221-DEC438B3932D}" type="slidenum">
              <a:rPr lang="en-IL" smtClean="0"/>
              <a:t>9</a:t>
            </a:fld>
            <a:endParaRPr lang="en-IL"/>
          </a:p>
        </p:txBody>
      </p:sp>
    </p:spTree>
    <p:extLst>
      <p:ext uri="{BB962C8B-B14F-4D97-AF65-F5344CB8AC3E}">
        <p14:creationId xmlns:p14="http://schemas.microsoft.com/office/powerpoint/2010/main" val="2806661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20632-E759-A7F9-A10D-D068D6F77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F3BF8-A8FF-3B39-4E39-1737287DE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B7217-C439-310A-9428-4F1D5CCCF438}"/>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032DB2D0-DF99-D576-CEEE-B7B3C3D62156}"/>
              </a:ext>
            </a:extLst>
          </p:cNvPr>
          <p:cNvSpPr>
            <a:spLocks noGrp="1"/>
          </p:cNvSpPr>
          <p:nvPr>
            <p:ph type="sldNum" sz="quarter" idx="5"/>
          </p:nvPr>
        </p:nvSpPr>
        <p:spPr/>
        <p:txBody>
          <a:bodyPr/>
          <a:lstStyle/>
          <a:p>
            <a:fld id="{7B4B34BC-2BAD-4325-9221-DEC438B3932D}" type="slidenum">
              <a:rPr lang="en-IL" smtClean="0"/>
              <a:t>10</a:t>
            </a:fld>
            <a:endParaRPr lang="en-IL"/>
          </a:p>
        </p:txBody>
      </p:sp>
    </p:spTree>
    <p:extLst>
      <p:ext uri="{BB962C8B-B14F-4D97-AF65-F5344CB8AC3E}">
        <p14:creationId xmlns:p14="http://schemas.microsoft.com/office/powerpoint/2010/main" val="1598495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8DEE709-064A-4295-8798-D27502C7A2AA}" type="datetimeFigureOut">
              <a:rPr lang="en-IL" smtClean="0"/>
              <a:t>02/13/2026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3491307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8DEE709-064A-4295-8798-D27502C7A2AA}" type="datetimeFigureOut">
              <a:rPr lang="en-IL" smtClean="0"/>
              <a:t>02/13/2026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535396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8DEE709-064A-4295-8798-D27502C7A2AA}" type="datetimeFigureOut">
              <a:rPr lang="en-IL" smtClean="0"/>
              <a:t>02/13/2026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4155017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8DEE709-064A-4295-8798-D27502C7A2AA}" type="datetimeFigureOut">
              <a:rPr lang="en-IL" smtClean="0"/>
              <a:t>02/13/2026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2568404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GB"/>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8DEE709-064A-4295-8798-D27502C7A2AA}" type="datetimeFigureOut">
              <a:rPr lang="en-IL" smtClean="0"/>
              <a:t>02/13/2026</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560904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8DEE709-064A-4295-8798-D27502C7A2AA}" type="datetimeFigureOut">
              <a:rPr lang="en-IL" smtClean="0"/>
              <a:t>02/13/2026</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197648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DEE709-064A-4295-8798-D27502C7A2AA}" type="datetimeFigureOut">
              <a:rPr lang="en-IL" smtClean="0"/>
              <a:t>02/13/2026</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450220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E8DEE709-064A-4295-8798-D27502C7A2AA}" type="datetimeFigureOut">
              <a:rPr lang="en-IL" smtClean="0"/>
              <a:t>02/13/2026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2387339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E8DEE709-064A-4295-8798-D27502C7A2AA}" type="datetimeFigureOut">
              <a:rPr lang="en-IL" smtClean="0"/>
              <a:t>02/13/2026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3862904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8DEE709-064A-4295-8798-D27502C7A2AA}" type="datetimeFigureOut">
              <a:rPr lang="en-IL" smtClean="0"/>
              <a:t>02/13/2026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3165059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8DEE709-064A-4295-8798-D27502C7A2AA}" type="datetimeFigureOut">
              <a:rPr lang="en-IL" smtClean="0"/>
              <a:t>02/13/2026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D5A8C6F5-F3E6-4241-935F-6DF57ABF0A61}" type="slidenum">
              <a:rPr lang="en-IL" smtClean="0"/>
              <a:t>‹#›</a:t>
            </a:fld>
            <a:endParaRPr lang="en-IL"/>
          </a:p>
        </p:txBody>
      </p:sp>
    </p:spTree>
    <p:extLst>
      <p:ext uri="{BB962C8B-B14F-4D97-AF65-F5344CB8AC3E}">
        <p14:creationId xmlns:p14="http://schemas.microsoft.com/office/powerpoint/2010/main" val="12374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E8DEE709-064A-4295-8798-D27502C7A2AA}" type="datetimeFigureOut">
              <a:rPr lang="en-IL" smtClean="0"/>
              <a:t>02/13/2026</a:t>
            </a:fld>
            <a:endParaRPr lang="en-IL"/>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L"/>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A8C6F5-F3E6-4241-935F-6DF57ABF0A61}" type="slidenum">
              <a:rPr lang="en-IL" smtClean="0"/>
              <a:t>‹#›</a:t>
            </a:fld>
            <a:endParaRPr lang="en-IL"/>
          </a:p>
        </p:txBody>
      </p:sp>
    </p:spTree>
    <p:extLst>
      <p:ext uri="{BB962C8B-B14F-4D97-AF65-F5344CB8AC3E}">
        <p14:creationId xmlns:p14="http://schemas.microsoft.com/office/powerpoint/2010/main" val="25165577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29FBB2-067E-7DC8-7B44-11F04A2620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F98934-406B-EDBB-02F3-1D014263FADA}"/>
              </a:ext>
            </a:extLst>
          </p:cNvPr>
          <p:cNvSpPr txBox="1"/>
          <p:nvPr/>
        </p:nvSpPr>
        <p:spPr>
          <a:xfrm>
            <a:off x="60429" y="213452"/>
            <a:ext cx="2546804" cy="461665"/>
          </a:xfrm>
          <a:prstGeom prst="rect">
            <a:avLst/>
          </a:prstGeom>
          <a:noFill/>
        </p:spPr>
        <p:txBody>
          <a:bodyPr wrap="square" rtlCol="0">
            <a:spAutoFit/>
          </a:bodyPr>
          <a:lstStyle/>
          <a:p>
            <a:pPr algn="ctr"/>
            <a:r>
              <a:rPr lang="en-GB" sz="2400" b="1" dirty="0"/>
              <a:t>Design process</a:t>
            </a:r>
            <a:endParaRPr lang="en-IL" sz="2400" b="1" dirty="0"/>
          </a:p>
        </p:txBody>
      </p:sp>
      <p:sp>
        <p:nvSpPr>
          <p:cNvPr id="4" name="Content Placeholder 3">
            <a:extLst>
              <a:ext uri="{FF2B5EF4-FFF2-40B4-BE49-F238E27FC236}">
                <a16:creationId xmlns:a16="http://schemas.microsoft.com/office/drawing/2014/main" id="{92574CD0-9BAD-0DAC-035D-8F61B4107C14}"/>
              </a:ext>
            </a:extLst>
          </p:cNvPr>
          <p:cNvSpPr>
            <a:spLocks noGrp="1"/>
          </p:cNvSpPr>
          <p:nvPr>
            <p:ph idx="1"/>
          </p:nvPr>
        </p:nvSpPr>
        <p:spPr>
          <a:xfrm>
            <a:off x="231694" y="618150"/>
            <a:ext cx="2204274" cy="204157"/>
          </a:xfrm>
        </p:spPr>
        <p:txBody>
          <a:bodyPr>
            <a:noAutofit/>
          </a:bodyPr>
          <a:lstStyle/>
          <a:p>
            <a:pPr marL="0" indent="0">
              <a:buNone/>
            </a:pPr>
            <a:r>
              <a:rPr lang="en-GB" sz="1200" b="1" i="1" dirty="0"/>
              <a:t>Block diagram of the system</a:t>
            </a:r>
          </a:p>
        </p:txBody>
      </p:sp>
      <p:sp>
        <p:nvSpPr>
          <p:cNvPr id="7" name="Content Placeholder 3">
            <a:extLst>
              <a:ext uri="{FF2B5EF4-FFF2-40B4-BE49-F238E27FC236}">
                <a16:creationId xmlns:a16="http://schemas.microsoft.com/office/drawing/2014/main" id="{AF951D19-95EC-3841-E228-D4BFE8ED9E72}"/>
              </a:ext>
            </a:extLst>
          </p:cNvPr>
          <p:cNvSpPr txBox="1">
            <a:spLocks/>
          </p:cNvSpPr>
          <p:nvPr/>
        </p:nvSpPr>
        <p:spPr>
          <a:xfrm>
            <a:off x="497182" y="6905629"/>
            <a:ext cx="6114284" cy="189547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300"/>
              </a:spcBef>
              <a:spcAft>
                <a:spcPts val="300"/>
              </a:spcAft>
              <a:buFont typeface="Arial" panose="020B0604020202020204" pitchFamily="34" charset="0"/>
              <a:buNone/>
            </a:pPr>
            <a:r>
              <a:rPr lang="en-GB" sz="900" b="1" dirty="0"/>
              <a:t>I/O:</a:t>
            </a:r>
          </a:p>
          <a:p>
            <a:pPr>
              <a:spcBef>
                <a:spcPts val="300"/>
              </a:spcBef>
              <a:spcAft>
                <a:spcPts val="300"/>
              </a:spcAft>
            </a:pPr>
            <a:r>
              <a:rPr lang="en-US" sz="900" dirty="0"/>
              <a:t>UART – TRX  lines using to write </a:t>
            </a:r>
            <a:r>
              <a:rPr lang="en-US" sz="900" dirty="0" err="1"/>
              <a:t>img</a:t>
            </a:r>
            <a:r>
              <a:rPr lang="en-US" sz="900" dirty="0"/>
              <a:t> to the internal SRAM memory and display the </a:t>
            </a:r>
            <a:r>
              <a:rPr lang="en-US" sz="900" dirty="0" err="1"/>
              <a:t>img</a:t>
            </a:r>
            <a:r>
              <a:rPr lang="en-US" sz="900" dirty="0"/>
              <a:t> on the PC. </a:t>
            </a:r>
            <a:endParaRPr lang="en-GB" sz="900" dirty="0"/>
          </a:p>
          <a:p>
            <a:pPr marL="0" indent="0">
              <a:spcBef>
                <a:spcPts val="300"/>
              </a:spcBef>
              <a:spcAft>
                <a:spcPts val="300"/>
              </a:spcAft>
              <a:buNone/>
            </a:pPr>
            <a:r>
              <a:rPr lang="en-GB" sz="900" b="1" dirty="0"/>
              <a:t>Blocks:</a:t>
            </a:r>
          </a:p>
          <a:p>
            <a:pPr>
              <a:spcBef>
                <a:spcPts val="300"/>
              </a:spcBef>
              <a:spcAft>
                <a:spcPts val="300"/>
              </a:spcAft>
            </a:pPr>
            <a:r>
              <a:rPr lang="en-GB" sz="900" dirty="0" err="1"/>
              <a:t>UART_wrapper</a:t>
            </a:r>
            <a:r>
              <a:rPr lang="en-GB" sz="900" dirty="0"/>
              <a:t> – using MAC-PHY blocks for each line to handle the data transfer properly</a:t>
            </a:r>
          </a:p>
          <a:p>
            <a:pPr>
              <a:spcBef>
                <a:spcPts val="300"/>
              </a:spcBef>
              <a:spcAft>
                <a:spcPts val="300"/>
              </a:spcAft>
            </a:pPr>
            <a:r>
              <a:rPr lang="en-GB" sz="900" dirty="0"/>
              <a:t>Sequencer – the main controller of the system responsible of managing the states and the operation of the other components</a:t>
            </a:r>
          </a:p>
          <a:p>
            <a:pPr>
              <a:spcBef>
                <a:spcPts val="300"/>
              </a:spcBef>
              <a:spcAft>
                <a:spcPts val="300"/>
              </a:spcAft>
            </a:pPr>
            <a:r>
              <a:rPr lang="en-GB" sz="900" dirty="0" err="1"/>
              <a:t>Msg_parser</a:t>
            </a:r>
            <a:r>
              <a:rPr lang="en-GB" sz="900" dirty="0"/>
              <a:t> – our translator and </a:t>
            </a:r>
            <a:r>
              <a:rPr lang="en-GB" sz="900" dirty="0" err="1"/>
              <a:t>cmd</a:t>
            </a:r>
            <a:r>
              <a:rPr lang="en-GB" sz="900" dirty="0"/>
              <a:t> generator according to the packets received from the RX line.</a:t>
            </a:r>
          </a:p>
          <a:p>
            <a:pPr>
              <a:spcBef>
                <a:spcPts val="300"/>
              </a:spcBef>
              <a:spcAft>
                <a:spcPts val="300"/>
              </a:spcAft>
            </a:pPr>
            <a:r>
              <a:rPr lang="en-GB" sz="900" dirty="0" err="1"/>
              <a:t>Rst_sync_pll</a:t>
            </a:r>
            <a:r>
              <a:rPr lang="en-GB" sz="900" dirty="0"/>
              <a:t> – creating the High </a:t>
            </a:r>
            <a:r>
              <a:rPr lang="en-GB" sz="900" dirty="0" err="1"/>
              <a:t>clk</a:t>
            </a:r>
            <a:r>
              <a:rPr lang="en-GB" sz="900" dirty="0"/>
              <a:t> for </a:t>
            </a:r>
            <a:r>
              <a:rPr lang="en-US" sz="900" dirty="0"/>
              <a:t>faster data transition </a:t>
            </a:r>
            <a:r>
              <a:rPr lang="en-GB" sz="900" dirty="0"/>
              <a:t> from/to  UART and </a:t>
            </a:r>
            <a:r>
              <a:rPr lang="en-GB" sz="900" dirty="0" err="1"/>
              <a:t>sycn</a:t>
            </a:r>
            <a:r>
              <a:rPr lang="en-GB" sz="900" dirty="0"/>
              <a:t> the </a:t>
            </a:r>
            <a:r>
              <a:rPr lang="en-GB" sz="900" dirty="0" err="1"/>
              <a:t>rst</a:t>
            </a:r>
            <a:r>
              <a:rPr lang="en-GB" sz="900" dirty="0"/>
              <a:t> to our new clk.</a:t>
            </a:r>
          </a:p>
          <a:p>
            <a:pPr>
              <a:spcBef>
                <a:spcPts val="300"/>
              </a:spcBef>
              <a:spcAft>
                <a:spcPts val="300"/>
              </a:spcAft>
            </a:pPr>
            <a:r>
              <a:rPr lang="en-GB" sz="900" dirty="0" err="1"/>
              <a:t>Addr_selection</a:t>
            </a:r>
            <a:r>
              <a:rPr lang="en-GB" sz="900" dirty="0"/>
              <a:t> – responsible for the data in/out of the control registers in out system.</a:t>
            </a:r>
          </a:p>
        </p:txBody>
      </p:sp>
      <p:pic>
        <p:nvPicPr>
          <p:cNvPr id="3" name="Picture 2">
            <a:extLst>
              <a:ext uri="{FF2B5EF4-FFF2-40B4-BE49-F238E27FC236}">
                <a16:creationId xmlns:a16="http://schemas.microsoft.com/office/drawing/2014/main" id="{4B7C7133-5335-FC1E-38FF-C49D15F2B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5378" y="822307"/>
            <a:ext cx="4509147" cy="26159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diagram of a computer&#10;&#10;AI-generated content may be incorrect.">
            <a:extLst>
              <a:ext uri="{FF2B5EF4-FFF2-40B4-BE49-F238E27FC236}">
                <a16:creationId xmlns:a16="http://schemas.microsoft.com/office/drawing/2014/main" id="{EE0523C6-E863-50D5-7E08-30ADC0F62F02}"/>
              </a:ext>
            </a:extLst>
          </p:cNvPr>
          <p:cNvPicPr>
            <a:picLocks noChangeAspect="1"/>
          </p:cNvPicPr>
          <p:nvPr/>
        </p:nvPicPr>
        <p:blipFill>
          <a:blip r:embed="rId4"/>
          <a:stretch>
            <a:fillRect/>
          </a:stretch>
        </p:blipFill>
        <p:spPr>
          <a:xfrm>
            <a:off x="0" y="3474587"/>
            <a:ext cx="6858000" cy="2956825"/>
          </a:xfrm>
          <a:prstGeom prst="rect">
            <a:avLst/>
          </a:prstGeom>
        </p:spPr>
      </p:pic>
    </p:spTree>
    <p:extLst>
      <p:ext uri="{BB962C8B-B14F-4D97-AF65-F5344CB8AC3E}">
        <p14:creationId xmlns:p14="http://schemas.microsoft.com/office/powerpoint/2010/main" val="2692925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A475B6-D310-4471-304F-83A7C5B2D5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6C591F-239A-7A2A-D0A4-99BC3039D2BE}"/>
              </a:ext>
            </a:extLst>
          </p:cNvPr>
          <p:cNvSpPr txBox="1"/>
          <p:nvPr/>
        </p:nvSpPr>
        <p:spPr>
          <a:xfrm>
            <a:off x="73024" y="171307"/>
            <a:ext cx="1698626" cy="338554"/>
          </a:xfrm>
          <a:prstGeom prst="rect">
            <a:avLst/>
          </a:prstGeom>
          <a:noFill/>
        </p:spPr>
        <p:txBody>
          <a:bodyPr wrap="square" rtlCol="0">
            <a:spAutoFit/>
          </a:bodyPr>
          <a:lstStyle/>
          <a:p>
            <a:pPr algn="ctr"/>
            <a:r>
              <a:rPr lang="en-US" sz="1600" b="1" dirty="0" err="1"/>
              <a:t>Rst_sync_pll</a:t>
            </a:r>
            <a:endParaRPr lang="en-IL" sz="1600" b="1" dirty="0"/>
          </a:p>
        </p:txBody>
      </p:sp>
      <p:pic>
        <p:nvPicPr>
          <p:cNvPr id="3076" name="Picture 4">
            <a:extLst>
              <a:ext uri="{FF2B5EF4-FFF2-40B4-BE49-F238E27FC236}">
                <a16:creationId xmlns:a16="http://schemas.microsoft.com/office/drawing/2014/main" id="{ABCDD464-1B03-488F-B04A-CDBF0F440D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8764" b="69752"/>
          <a:stretch>
            <a:fillRect/>
          </a:stretch>
        </p:blipFill>
        <p:spPr bwMode="auto">
          <a:xfrm>
            <a:off x="3358360" y="509861"/>
            <a:ext cx="3113879" cy="12073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4E2EB85-7BCD-03E8-C65D-DAC313C21EA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16" t="41158" r="54427" b="-1651"/>
          <a:stretch>
            <a:fillRect/>
          </a:stretch>
        </p:blipFill>
        <p:spPr bwMode="auto">
          <a:xfrm>
            <a:off x="3375819" y="1717196"/>
            <a:ext cx="3390899" cy="177053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88A164-C70E-9D9D-CE9B-827B96157792}"/>
              </a:ext>
            </a:extLst>
          </p:cNvPr>
          <p:cNvSpPr txBox="1"/>
          <p:nvPr/>
        </p:nvSpPr>
        <p:spPr>
          <a:xfrm>
            <a:off x="73024" y="640220"/>
            <a:ext cx="3208339" cy="938719"/>
          </a:xfrm>
          <a:prstGeom prst="rect">
            <a:avLst/>
          </a:prstGeom>
          <a:noFill/>
        </p:spPr>
        <p:txBody>
          <a:bodyPr wrap="square" rtlCol="0">
            <a:spAutoFit/>
          </a:bodyPr>
          <a:lstStyle/>
          <a:p>
            <a:pPr marL="285750" indent="-285750">
              <a:buFont typeface="Arial" panose="020B0604020202020204" pitchFamily="34" charset="0"/>
              <a:buChar char="•"/>
            </a:pPr>
            <a:r>
              <a:rPr lang="en-US" sz="1100" dirty="0"/>
              <a:t>In the real world we must take care of the release of the async </a:t>
            </a:r>
            <a:r>
              <a:rPr lang="en-US" sz="1100" dirty="0" err="1"/>
              <a:t>rst_n</a:t>
            </a:r>
            <a:r>
              <a:rPr lang="en-US" sz="1100" dirty="0"/>
              <a:t> because if we release it too close to the setup time we would have timing violations and because off that we are sync with 2FF the </a:t>
            </a:r>
            <a:r>
              <a:rPr lang="en-US" sz="1100" dirty="0" err="1"/>
              <a:t>rst_n</a:t>
            </a:r>
            <a:r>
              <a:rPr lang="en-US" sz="1100" dirty="0"/>
              <a:t> signal </a:t>
            </a:r>
            <a:endParaRPr lang="en-IL" sz="1100" dirty="0"/>
          </a:p>
        </p:txBody>
      </p:sp>
      <p:sp>
        <p:nvSpPr>
          <p:cNvPr id="9" name="TextBox 8">
            <a:extLst>
              <a:ext uri="{FF2B5EF4-FFF2-40B4-BE49-F238E27FC236}">
                <a16:creationId xmlns:a16="http://schemas.microsoft.com/office/drawing/2014/main" id="{856CA02A-CB4A-5350-E0C1-54A9D16F3EB3}"/>
              </a:ext>
            </a:extLst>
          </p:cNvPr>
          <p:cNvSpPr txBox="1"/>
          <p:nvPr/>
        </p:nvSpPr>
        <p:spPr>
          <a:xfrm>
            <a:off x="150021" y="2007058"/>
            <a:ext cx="3208339" cy="1615827"/>
          </a:xfrm>
          <a:prstGeom prst="rect">
            <a:avLst/>
          </a:prstGeom>
          <a:noFill/>
        </p:spPr>
        <p:txBody>
          <a:bodyPr wrap="square" rtlCol="0">
            <a:spAutoFit/>
          </a:bodyPr>
          <a:lstStyle/>
          <a:p>
            <a:pPr marL="285750" indent="-285750">
              <a:buFont typeface="Arial" panose="020B0604020202020204" pitchFamily="34" charset="0"/>
              <a:buChar char="•"/>
            </a:pPr>
            <a:r>
              <a:rPr lang="en-US" sz="1100" dirty="0"/>
              <a:t>When we are working with 2 different clocks and we want to have the ability to change our performance in real time we must use a </a:t>
            </a:r>
            <a:r>
              <a:rPr lang="en-US" sz="1100" dirty="0" err="1"/>
              <a:t>clk_mux</a:t>
            </a:r>
            <a:r>
              <a:rPr lang="en-US" sz="1100" dirty="0"/>
              <a:t> free glitches to keep the system in a valid state and make the transition clear.</a:t>
            </a:r>
          </a:p>
          <a:p>
            <a:pPr marL="285750" indent="-285750">
              <a:buFont typeface="Arial" panose="020B0604020202020204" pitchFamily="34" charset="0"/>
              <a:buChar char="•"/>
            </a:pPr>
            <a:r>
              <a:rPr lang="en-US" sz="1100" dirty="0"/>
              <a:t>We can see that the transition will create a window in which the output would be zero for 2 </a:t>
            </a:r>
            <a:r>
              <a:rPr lang="en-US" sz="1100" dirty="0" err="1"/>
              <a:t>clk</a:t>
            </a:r>
            <a:r>
              <a:rPr lang="en-US" sz="1100" dirty="0"/>
              <a:t> cycles of the </a:t>
            </a:r>
            <a:r>
              <a:rPr lang="en-US" sz="1100" dirty="0" err="1"/>
              <a:t>clk</a:t>
            </a:r>
            <a:r>
              <a:rPr lang="en-US" sz="1100" dirty="0"/>
              <a:t> we are using now before we are moving to the next clk.  </a:t>
            </a:r>
            <a:endParaRPr lang="en-IL" sz="1100" dirty="0"/>
          </a:p>
        </p:txBody>
      </p:sp>
      <p:pic>
        <p:nvPicPr>
          <p:cNvPr id="11" name="Picture 10" descr="A computer diagram of a computer&#10;&#10;AI-generated content may be incorrect.">
            <a:extLst>
              <a:ext uri="{FF2B5EF4-FFF2-40B4-BE49-F238E27FC236}">
                <a16:creationId xmlns:a16="http://schemas.microsoft.com/office/drawing/2014/main" id="{8BFCAD06-0FDC-AD25-E35E-BC343BD23EA4}"/>
              </a:ext>
            </a:extLst>
          </p:cNvPr>
          <p:cNvPicPr>
            <a:picLocks noChangeAspect="1"/>
          </p:cNvPicPr>
          <p:nvPr/>
        </p:nvPicPr>
        <p:blipFill>
          <a:blip r:embed="rId5"/>
          <a:stretch>
            <a:fillRect/>
          </a:stretch>
        </p:blipFill>
        <p:spPr>
          <a:xfrm>
            <a:off x="150021" y="3731340"/>
            <a:ext cx="6033293" cy="3796317"/>
          </a:xfrm>
          <a:prstGeom prst="rect">
            <a:avLst/>
          </a:prstGeom>
        </p:spPr>
      </p:pic>
      <p:sp>
        <p:nvSpPr>
          <p:cNvPr id="12" name="TextBox 11">
            <a:extLst>
              <a:ext uri="{FF2B5EF4-FFF2-40B4-BE49-F238E27FC236}">
                <a16:creationId xmlns:a16="http://schemas.microsoft.com/office/drawing/2014/main" id="{032BD50C-1C91-252F-9315-0350170003B1}"/>
              </a:ext>
            </a:extLst>
          </p:cNvPr>
          <p:cNvSpPr txBox="1"/>
          <p:nvPr/>
        </p:nvSpPr>
        <p:spPr>
          <a:xfrm>
            <a:off x="311945" y="7636112"/>
            <a:ext cx="3208339" cy="600164"/>
          </a:xfrm>
          <a:prstGeom prst="rect">
            <a:avLst/>
          </a:prstGeom>
          <a:noFill/>
        </p:spPr>
        <p:txBody>
          <a:bodyPr wrap="square" rtlCol="0">
            <a:spAutoFit/>
          </a:bodyPr>
          <a:lstStyle/>
          <a:p>
            <a:pPr marL="285750" indent="-285750">
              <a:buFont typeface="Arial" panose="020B0604020202020204" pitchFamily="34" charset="0"/>
              <a:buChar char="•"/>
            </a:pPr>
            <a:r>
              <a:rPr lang="en-US" sz="1100" dirty="0"/>
              <a:t>Here I’m using a Xilinx component that replacing the </a:t>
            </a:r>
            <a:r>
              <a:rPr lang="en-US" sz="1100" dirty="0" err="1"/>
              <a:t>clk_mux</a:t>
            </a:r>
            <a:r>
              <a:rPr lang="en-US" sz="1100" dirty="0"/>
              <a:t> component because I had a </a:t>
            </a:r>
            <a:r>
              <a:rPr lang="en-US" sz="1100" dirty="0" err="1"/>
              <a:t>clk</a:t>
            </a:r>
            <a:r>
              <a:rPr lang="en-US" sz="1100" dirty="0"/>
              <a:t> </a:t>
            </a:r>
            <a:r>
              <a:rPr lang="en-US" sz="1100" dirty="0" err="1"/>
              <a:t>recognization</a:t>
            </a:r>
            <a:r>
              <a:rPr lang="en-US" sz="1100" dirty="0"/>
              <a:t> issues in </a:t>
            </a:r>
            <a:r>
              <a:rPr lang="en-US" sz="1100" dirty="0" err="1"/>
              <a:t>vivado</a:t>
            </a:r>
            <a:r>
              <a:rPr lang="en-US" sz="1100" dirty="0"/>
              <a:t>. </a:t>
            </a:r>
            <a:endParaRPr lang="en-IL" sz="1100" dirty="0"/>
          </a:p>
        </p:txBody>
      </p:sp>
    </p:spTree>
    <p:extLst>
      <p:ext uri="{BB962C8B-B14F-4D97-AF65-F5344CB8AC3E}">
        <p14:creationId xmlns:p14="http://schemas.microsoft.com/office/powerpoint/2010/main" val="7864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0E9CB1-35DC-ABEE-7A54-A1178B4D0C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E4EFBC-218A-E3F8-6C21-ACE3C7BF3315}"/>
              </a:ext>
            </a:extLst>
          </p:cNvPr>
          <p:cNvSpPr txBox="1"/>
          <p:nvPr/>
        </p:nvSpPr>
        <p:spPr>
          <a:xfrm>
            <a:off x="92074" y="108978"/>
            <a:ext cx="1998664" cy="338554"/>
          </a:xfrm>
          <a:prstGeom prst="rect">
            <a:avLst/>
          </a:prstGeom>
          <a:noFill/>
        </p:spPr>
        <p:txBody>
          <a:bodyPr wrap="square" rtlCol="0">
            <a:spAutoFit/>
          </a:bodyPr>
          <a:lstStyle/>
          <a:p>
            <a:pPr algn="ctr"/>
            <a:r>
              <a:rPr lang="en-GB" sz="1600" b="1" dirty="0"/>
              <a:t>Component </a:t>
            </a:r>
            <a:r>
              <a:rPr lang="he-IL" sz="1600" b="1" dirty="0"/>
              <a:t> </a:t>
            </a:r>
            <a:r>
              <a:rPr lang="en-US" sz="1600" b="1" dirty="0"/>
              <a:t>design</a:t>
            </a:r>
            <a:endParaRPr lang="en-IL" sz="1600" b="1" dirty="0"/>
          </a:p>
        </p:txBody>
      </p:sp>
      <p:sp>
        <p:nvSpPr>
          <p:cNvPr id="4" name="TextBox 3">
            <a:extLst>
              <a:ext uri="{FF2B5EF4-FFF2-40B4-BE49-F238E27FC236}">
                <a16:creationId xmlns:a16="http://schemas.microsoft.com/office/drawing/2014/main" id="{7CFD7C29-1419-0D0F-70E4-A7AA23D6AB28}"/>
              </a:ext>
            </a:extLst>
          </p:cNvPr>
          <p:cNvSpPr txBox="1"/>
          <p:nvPr/>
        </p:nvSpPr>
        <p:spPr>
          <a:xfrm>
            <a:off x="0" y="422103"/>
            <a:ext cx="1162049" cy="261610"/>
          </a:xfrm>
          <a:prstGeom prst="rect">
            <a:avLst/>
          </a:prstGeom>
          <a:noFill/>
        </p:spPr>
        <p:txBody>
          <a:bodyPr wrap="square" rtlCol="0">
            <a:spAutoFit/>
          </a:bodyPr>
          <a:lstStyle/>
          <a:p>
            <a:pPr algn="ctr"/>
            <a:r>
              <a:rPr lang="en-US" sz="1100" b="1" dirty="0"/>
              <a:t>UART block</a:t>
            </a:r>
            <a:endParaRPr lang="en-IL" sz="1100" b="1" dirty="0"/>
          </a:p>
        </p:txBody>
      </p:sp>
      <p:sp>
        <p:nvSpPr>
          <p:cNvPr id="3" name="TextBox 2">
            <a:extLst>
              <a:ext uri="{FF2B5EF4-FFF2-40B4-BE49-F238E27FC236}">
                <a16:creationId xmlns:a16="http://schemas.microsoft.com/office/drawing/2014/main" id="{AD0DE5A6-48A6-92E1-8EF7-66D90E4F860A}"/>
              </a:ext>
            </a:extLst>
          </p:cNvPr>
          <p:cNvSpPr txBox="1"/>
          <p:nvPr/>
        </p:nvSpPr>
        <p:spPr>
          <a:xfrm>
            <a:off x="92074" y="6253878"/>
            <a:ext cx="6499337" cy="1954381"/>
          </a:xfrm>
          <a:prstGeom prst="rect">
            <a:avLst/>
          </a:prstGeom>
          <a:noFill/>
        </p:spPr>
        <p:txBody>
          <a:bodyPr wrap="square" rtlCol="0">
            <a:spAutoFit/>
          </a:bodyPr>
          <a:lstStyle/>
          <a:p>
            <a:pPr marL="171450" indent="-171450">
              <a:buFont typeface="Arial" panose="020B0604020202020204" pitchFamily="34" charset="0"/>
              <a:buChar char="•"/>
            </a:pPr>
            <a:r>
              <a:rPr lang="en-US" sz="1100" b="1" dirty="0"/>
              <a:t>Our UART is working with MAC-PHY configuration as FSM inside FSM.</a:t>
            </a:r>
          </a:p>
          <a:p>
            <a:pPr marL="171450" indent="-171450">
              <a:buFont typeface="Arial" panose="020B0604020202020204" pitchFamily="34" charset="0"/>
              <a:buChar char="•"/>
            </a:pPr>
            <a:r>
              <a:rPr lang="en-US" sz="1100" b="1" dirty="0"/>
              <a:t>the MAC responsible for the data packet and control the PHY transmitting/receiving.</a:t>
            </a:r>
          </a:p>
          <a:p>
            <a:pPr marL="171450" indent="-171450">
              <a:buFont typeface="Arial" panose="020B0604020202020204" pitchFamily="34" charset="0"/>
              <a:buChar char="•"/>
            </a:pPr>
            <a:r>
              <a:rPr lang="en-US" sz="1100" b="1" dirty="0"/>
              <a:t>Our PHY responsible to transmitting/receiving the data bit by bit using with Baud Rate of 5M</a:t>
            </a:r>
          </a:p>
          <a:p>
            <a:pPr marL="171450" indent="-171450">
              <a:buFont typeface="Arial" panose="020B0604020202020204" pitchFamily="34" charset="0"/>
              <a:buChar char="•"/>
            </a:pPr>
            <a:endParaRPr lang="en-US" sz="1100" b="1" dirty="0"/>
          </a:p>
          <a:p>
            <a:pPr marL="171450" indent="-171450">
              <a:buFont typeface="Arial" panose="020B0604020202020204" pitchFamily="34" charset="0"/>
              <a:buChar char="•"/>
            </a:pPr>
            <a:r>
              <a:rPr lang="en-US" sz="1100" b="1" dirty="0"/>
              <a:t>In order to sample correctly the Rx line (async line) we sampled it 16x faster than our BR and by that we can be sure we have high precision of the data received.</a:t>
            </a:r>
          </a:p>
          <a:p>
            <a:pPr marL="171450" indent="-171450">
              <a:buFont typeface="Arial" panose="020B0604020202020204" pitchFamily="34" charset="0"/>
              <a:buChar char="•"/>
            </a:pPr>
            <a:r>
              <a:rPr lang="en-US" sz="1100" b="1" dirty="0"/>
              <a:t>I'm using a </a:t>
            </a:r>
            <a:r>
              <a:rPr lang="en-US" sz="1100" b="1" dirty="0" err="1"/>
              <a:t>Fractional_acc</a:t>
            </a:r>
            <a:r>
              <a:rPr lang="en-US" sz="1100" b="1" dirty="0"/>
              <a:t> because of my system settings, my system works with 200MHz high </a:t>
            </a:r>
            <a:r>
              <a:rPr lang="en-US" sz="1100" b="1" dirty="0" err="1"/>
              <a:t>clk</a:t>
            </a:r>
            <a:r>
              <a:rPr lang="en-US" sz="1100" b="1" dirty="0"/>
              <a:t> our highest int divider of 200Mhz is 100Mhz so our calculation of choosing the BR need to consider that and BR16 should be smaller than 100Mhz I chose 5Mbps but because 100Mps/80Mps its not an int we should accumulate the differences each time.</a:t>
            </a:r>
            <a:br>
              <a:rPr lang="en-US" sz="1100" b="1" dirty="0"/>
            </a:br>
            <a:r>
              <a:rPr lang="en-US" sz="1100" b="1" dirty="0"/>
              <a:t>We that we can keep the jitter would be minimal and the frequency be precise over time.</a:t>
            </a:r>
          </a:p>
        </p:txBody>
      </p:sp>
      <p:pic>
        <p:nvPicPr>
          <p:cNvPr id="8" name="Picture 7" descr="A screenshot of a diagram&#10;&#10;AI-generated content may be incorrect.">
            <a:extLst>
              <a:ext uri="{FF2B5EF4-FFF2-40B4-BE49-F238E27FC236}">
                <a16:creationId xmlns:a16="http://schemas.microsoft.com/office/drawing/2014/main" id="{E201A634-3D9D-F681-4235-B0184824E619}"/>
              </a:ext>
            </a:extLst>
          </p:cNvPr>
          <p:cNvPicPr>
            <a:picLocks noChangeAspect="1"/>
          </p:cNvPicPr>
          <p:nvPr/>
        </p:nvPicPr>
        <p:blipFill>
          <a:blip r:embed="rId3"/>
          <a:stretch>
            <a:fillRect/>
          </a:stretch>
        </p:blipFill>
        <p:spPr>
          <a:xfrm>
            <a:off x="1162049" y="730727"/>
            <a:ext cx="1662595" cy="4222273"/>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DD81BC6F-81B0-BCA5-2404-8190F984A444}"/>
              </a:ext>
            </a:extLst>
          </p:cNvPr>
          <p:cNvPicPr>
            <a:picLocks noChangeAspect="1"/>
          </p:cNvPicPr>
          <p:nvPr/>
        </p:nvPicPr>
        <p:blipFill>
          <a:blip r:embed="rId4"/>
          <a:stretch>
            <a:fillRect/>
          </a:stretch>
        </p:blipFill>
        <p:spPr>
          <a:xfrm>
            <a:off x="62878" y="4872209"/>
            <a:ext cx="3366122" cy="1252611"/>
          </a:xfrm>
          <a:prstGeom prst="rect">
            <a:avLst/>
          </a:prstGeom>
        </p:spPr>
      </p:pic>
      <p:pic>
        <p:nvPicPr>
          <p:cNvPr id="17" name="Picture 16" descr="A screenshot of a computer program&#10;&#10;AI-generated content may be incorrect.">
            <a:extLst>
              <a:ext uri="{FF2B5EF4-FFF2-40B4-BE49-F238E27FC236}">
                <a16:creationId xmlns:a16="http://schemas.microsoft.com/office/drawing/2014/main" id="{B2AA5672-F4B0-12FC-2D98-F2D3B0A72922}"/>
              </a:ext>
            </a:extLst>
          </p:cNvPr>
          <p:cNvPicPr>
            <a:picLocks noChangeAspect="1"/>
          </p:cNvPicPr>
          <p:nvPr/>
        </p:nvPicPr>
        <p:blipFill>
          <a:blip r:embed="rId5"/>
          <a:stretch>
            <a:fillRect/>
          </a:stretch>
        </p:blipFill>
        <p:spPr>
          <a:xfrm>
            <a:off x="3531222" y="4815059"/>
            <a:ext cx="3216275" cy="1252611"/>
          </a:xfrm>
          <a:prstGeom prst="rect">
            <a:avLst/>
          </a:prstGeom>
        </p:spPr>
      </p:pic>
      <p:pic>
        <p:nvPicPr>
          <p:cNvPr id="9" name="Picture 8" descr="A diagram of a diagram&#10;&#10;AI-generated content may be incorrect.">
            <a:extLst>
              <a:ext uri="{FF2B5EF4-FFF2-40B4-BE49-F238E27FC236}">
                <a16:creationId xmlns:a16="http://schemas.microsoft.com/office/drawing/2014/main" id="{958277B6-9AE1-DC1E-BC35-781CBBCB62A9}"/>
              </a:ext>
            </a:extLst>
          </p:cNvPr>
          <p:cNvPicPr>
            <a:picLocks noChangeAspect="1"/>
          </p:cNvPicPr>
          <p:nvPr/>
        </p:nvPicPr>
        <p:blipFill>
          <a:blip r:embed="rId6"/>
          <a:stretch>
            <a:fillRect/>
          </a:stretch>
        </p:blipFill>
        <p:spPr>
          <a:xfrm>
            <a:off x="1215285" y="8337317"/>
            <a:ext cx="4252913" cy="1454690"/>
          </a:xfrm>
          <a:prstGeom prst="rect">
            <a:avLst/>
          </a:prstGeom>
        </p:spPr>
      </p:pic>
      <p:pic>
        <p:nvPicPr>
          <p:cNvPr id="13" name="Picture 12" descr="A diagram of a computer&#10;&#10;AI-generated content may be incorrect.">
            <a:extLst>
              <a:ext uri="{FF2B5EF4-FFF2-40B4-BE49-F238E27FC236}">
                <a16:creationId xmlns:a16="http://schemas.microsoft.com/office/drawing/2014/main" id="{DCFEAB45-14ED-BBC6-B5BB-37C1CB7296A7}"/>
              </a:ext>
            </a:extLst>
          </p:cNvPr>
          <p:cNvPicPr>
            <a:picLocks noChangeAspect="1"/>
          </p:cNvPicPr>
          <p:nvPr/>
        </p:nvPicPr>
        <p:blipFill>
          <a:blip r:embed="rId7"/>
          <a:stretch>
            <a:fillRect/>
          </a:stretch>
        </p:blipFill>
        <p:spPr>
          <a:xfrm>
            <a:off x="4279774" y="773840"/>
            <a:ext cx="1662595" cy="3999214"/>
          </a:xfrm>
          <a:prstGeom prst="rect">
            <a:avLst/>
          </a:prstGeom>
        </p:spPr>
      </p:pic>
    </p:spTree>
    <p:extLst>
      <p:ext uri="{BB962C8B-B14F-4D97-AF65-F5344CB8AC3E}">
        <p14:creationId xmlns:p14="http://schemas.microsoft.com/office/powerpoint/2010/main" val="413776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484140-CA46-D380-A2F9-C181D0277A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CA52926-43E7-EAC4-3C7D-107F9895CFE0}"/>
              </a:ext>
            </a:extLst>
          </p:cNvPr>
          <p:cNvSpPr txBox="1"/>
          <p:nvPr/>
        </p:nvSpPr>
        <p:spPr>
          <a:xfrm>
            <a:off x="206374" y="242745"/>
            <a:ext cx="1698626" cy="338554"/>
          </a:xfrm>
          <a:prstGeom prst="rect">
            <a:avLst/>
          </a:prstGeom>
          <a:noFill/>
        </p:spPr>
        <p:txBody>
          <a:bodyPr wrap="square" rtlCol="0">
            <a:spAutoFit/>
          </a:bodyPr>
          <a:lstStyle/>
          <a:p>
            <a:pPr algn="ctr"/>
            <a:r>
              <a:rPr lang="en-US" sz="1600" b="1" dirty="0"/>
              <a:t>Reg R/W access</a:t>
            </a:r>
            <a:endParaRPr lang="en-IL" sz="1600" b="1" dirty="0"/>
          </a:p>
        </p:txBody>
      </p:sp>
      <p:pic>
        <p:nvPicPr>
          <p:cNvPr id="9" name="Picture 8" descr="A diagram of a diagram&#10;&#10;AI-generated content may be incorrect.">
            <a:extLst>
              <a:ext uri="{FF2B5EF4-FFF2-40B4-BE49-F238E27FC236}">
                <a16:creationId xmlns:a16="http://schemas.microsoft.com/office/drawing/2014/main" id="{CD5358EC-963D-8C41-1FA4-5EB16C0E15C6}"/>
              </a:ext>
            </a:extLst>
          </p:cNvPr>
          <p:cNvPicPr>
            <a:picLocks noChangeAspect="1"/>
          </p:cNvPicPr>
          <p:nvPr/>
        </p:nvPicPr>
        <p:blipFill>
          <a:blip r:embed="rId3"/>
          <a:stretch>
            <a:fillRect/>
          </a:stretch>
        </p:blipFill>
        <p:spPr>
          <a:xfrm>
            <a:off x="270943" y="653858"/>
            <a:ext cx="6219825" cy="1228118"/>
          </a:xfrm>
          <a:prstGeom prst="rect">
            <a:avLst/>
          </a:prstGeom>
        </p:spPr>
      </p:pic>
      <p:pic>
        <p:nvPicPr>
          <p:cNvPr id="13" name="Picture 12" descr="A diagram of a computer&#10;&#10;AI-generated content may be incorrect.">
            <a:extLst>
              <a:ext uri="{FF2B5EF4-FFF2-40B4-BE49-F238E27FC236}">
                <a16:creationId xmlns:a16="http://schemas.microsoft.com/office/drawing/2014/main" id="{A26D7371-6BEF-858E-BC24-AD8232F986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748033"/>
            <a:ext cx="6858000" cy="3582714"/>
          </a:xfrm>
          <a:prstGeom prst="rect">
            <a:avLst/>
          </a:prstGeom>
        </p:spPr>
      </p:pic>
      <p:pic>
        <p:nvPicPr>
          <p:cNvPr id="2050" name="Picture 2">
            <a:extLst>
              <a:ext uri="{FF2B5EF4-FFF2-40B4-BE49-F238E27FC236}">
                <a16:creationId xmlns:a16="http://schemas.microsoft.com/office/drawing/2014/main" id="{EF72DE18-076B-7FD6-45D7-4EE28E8415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9636" y="2286484"/>
            <a:ext cx="4848225" cy="287606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F5E21D67-CEBF-451C-6D45-4FBA1AFBB71D}"/>
              </a:ext>
            </a:extLst>
          </p:cNvPr>
          <p:cNvSpPr txBox="1"/>
          <p:nvPr/>
        </p:nvSpPr>
        <p:spPr>
          <a:xfrm>
            <a:off x="206374" y="521943"/>
            <a:ext cx="2800629" cy="261610"/>
          </a:xfrm>
          <a:prstGeom prst="rect">
            <a:avLst/>
          </a:prstGeom>
          <a:noFill/>
        </p:spPr>
        <p:txBody>
          <a:bodyPr wrap="square" rtlCol="0">
            <a:spAutoFit/>
          </a:bodyPr>
          <a:lstStyle/>
          <a:p>
            <a:r>
              <a:rPr lang="en-US" sz="1100" dirty="0"/>
              <a:t>Read/write of control register flow</a:t>
            </a:r>
            <a:endParaRPr lang="en-IL" sz="1100" dirty="0"/>
          </a:p>
        </p:txBody>
      </p:sp>
      <p:sp>
        <p:nvSpPr>
          <p:cNvPr id="19" name="TextBox 18">
            <a:extLst>
              <a:ext uri="{FF2B5EF4-FFF2-40B4-BE49-F238E27FC236}">
                <a16:creationId xmlns:a16="http://schemas.microsoft.com/office/drawing/2014/main" id="{7DEDAEB9-CB3D-71D7-BDA3-98A8CB0374FE}"/>
              </a:ext>
            </a:extLst>
          </p:cNvPr>
          <p:cNvSpPr txBox="1"/>
          <p:nvPr/>
        </p:nvSpPr>
        <p:spPr>
          <a:xfrm>
            <a:off x="206373" y="2013891"/>
            <a:ext cx="2800629" cy="261610"/>
          </a:xfrm>
          <a:prstGeom prst="rect">
            <a:avLst/>
          </a:prstGeom>
          <a:noFill/>
        </p:spPr>
        <p:txBody>
          <a:bodyPr wrap="square" rtlCol="0">
            <a:spAutoFit/>
          </a:bodyPr>
          <a:lstStyle/>
          <a:p>
            <a:r>
              <a:rPr lang="en-US" sz="1100" dirty="0" err="1"/>
              <a:t>addr</a:t>
            </a:r>
            <a:r>
              <a:rPr lang="en-US" sz="1100" dirty="0"/>
              <a:t> selection module diagram</a:t>
            </a:r>
            <a:endParaRPr lang="en-IL" sz="1100" dirty="0"/>
          </a:p>
        </p:txBody>
      </p:sp>
      <p:sp>
        <p:nvSpPr>
          <p:cNvPr id="20" name="TextBox 19">
            <a:extLst>
              <a:ext uri="{FF2B5EF4-FFF2-40B4-BE49-F238E27FC236}">
                <a16:creationId xmlns:a16="http://schemas.microsoft.com/office/drawing/2014/main" id="{FCA01855-AA3F-ACC0-D9E2-A9A8A81A9C78}"/>
              </a:ext>
            </a:extLst>
          </p:cNvPr>
          <p:cNvSpPr txBox="1"/>
          <p:nvPr/>
        </p:nvSpPr>
        <p:spPr>
          <a:xfrm>
            <a:off x="49209" y="5531491"/>
            <a:ext cx="2800629" cy="261610"/>
          </a:xfrm>
          <a:prstGeom prst="rect">
            <a:avLst/>
          </a:prstGeom>
          <a:noFill/>
        </p:spPr>
        <p:txBody>
          <a:bodyPr wrap="square" rtlCol="0">
            <a:spAutoFit/>
          </a:bodyPr>
          <a:lstStyle/>
          <a:p>
            <a:r>
              <a:rPr lang="en-US" sz="1100" dirty="0"/>
              <a:t>Read/write operation timing flow</a:t>
            </a:r>
            <a:endParaRPr lang="en-IL" sz="1100" dirty="0"/>
          </a:p>
        </p:txBody>
      </p:sp>
    </p:spTree>
    <p:extLst>
      <p:ext uri="{BB962C8B-B14F-4D97-AF65-F5344CB8AC3E}">
        <p14:creationId xmlns:p14="http://schemas.microsoft.com/office/powerpoint/2010/main" val="417787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8EE326-4378-42E3-0B07-9F3974112F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24726E-9E2F-B3FA-0E81-3F2636D692E8}"/>
              </a:ext>
            </a:extLst>
          </p:cNvPr>
          <p:cNvSpPr txBox="1"/>
          <p:nvPr/>
        </p:nvSpPr>
        <p:spPr>
          <a:xfrm>
            <a:off x="73024" y="11556"/>
            <a:ext cx="1955801" cy="338554"/>
          </a:xfrm>
          <a:prstGeom prst="rect">
            <a:avLst/>
          </a:prstGeom>
          <a:noFill/>
        </p:spPr>
        <p:txBody>
          <a:bodyPr wrap="square" rtlCol="0">
            <a:spAutoFit/>
          </a:bodyPr>
          <a:lstStyle/>
          <a:p>
            <a:pPr algn="ctr"/>
            <a:r>
              <a:rPr lang="en-US" sz="1600" b="1" dirty="0"/>
              <a:t>Memory read/write</a:t>
            </a:r>
            <a:endParaRPr lang="en-IL" sz="1600" b="1" dirty="0"/>
          </a:p>
        </p:txBody>
      </p:sp>
      <p:sp>
        <p:nvSpPr>
          <p:cNvPr id="2" name="TextBox 1">
            <a:extLst>
              <a:ext uri="{FF2B5EF4-FFF2-40B4-BE49-F238E27FC236}">
                <a16:creationId xmlns:a16="http://schemas.microsoft.com/office/drawing/2014/main" id="{96A9C477-1129-C46D-26AD-18C2B2C27DE2}"/>
              </a:ext>
            </a:extLst>
          </p:cNvPr>
          <p:cNvSpPr txBox="1"/>
          <p:nvPr/>
        </p:nvSpPr>
        <p:spPr>
          <a:xfrm>
            <a:off x="73024" y="2603397"/>
            <a:ext cx="1770064" cy="338554"/>
          </a:xfrm>
          <a:prstGeom prst="rect">
            <a:avLst/>
          </a:prstGeom>
          <a:noFill/>
        </p:spPr>
        <p:txBody>
          <a:bodyPr wrap="square" rtlCol="0">
            <a:spAutoFit/>
          </a:bodyPr>
          <a:lstStyle/>
          <a:p>
            <a:pPr algn="ctr"/>
            <a:r>
              <a:rPr lang="en-US" sz="1600" b="1" dirty="0"/>
              <a:t>Async FIFO</a:t>
            </a:r>
            <a:endParaRPr lang="en-IL" sz="1600" b="1" dirty="0"/>
          </a:p>
        </p:txBody>
      </p:sp>
      <p:pic>
        <p:nvPicPr>
          <p:cNvPr id="4" name="Picture 3" descr="A black and white diagram&#10;&#10;AI-generated content may be incorrect.">
            <a:extLst>
              <a:ext uri="{FF2B5EF4-FFF2-40B4-BE49-F238E27FC236}">
                <a16:creationId xmlns:a16="http://schemas.microsoft.com/office/drawing/2014/main" id="{0DB3219E-9A42-D33B-8271-75F892723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0" y="328343"/>
            <a:ext cx="6858000" cy="1906859"/>
          </a:xfrm>
          <a:prstGeom prst="rect">
            <a:avLst/>
          </a:prstGeom>
        </p:spPr>
      </p:pic>
      <p:pic>
        <p:nvPicPr>
          <p:cNvPr id="1028" name="Picture 4">
            <a:extLst>
              <a:ext uri="{FF2B5EF4-FFF2-40B4-BE49-F238E27FC236}">
                <a16:creationId xmlns:a16="http://schemas.microsoft.com/office/drawing/2014/main" id="{5664A272-1F48-D4A6-49D7-FD3726A02B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7685" r="877"/>
          <a:stretch>
            <a:fillRect/>
          </a:stretch>
        </p:blipFill>
        <p:spPr bwMode="auto">
          <a:xfrm>
            <a:off x="598489" y="2712935"/>
            <a:ext cx="5156151" cy="2886074"/>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C6BF67A-E351-75D4-9BD0-BCD6217026E2}"/>
              </a:ext>
            </a:extLst>
          </p:cNvPr>
          <p:cNvSpPr txBox="1"/>
          <p:nvPr/>
        </p:nvSpPr>
        <p:spPr>
          <a:xfrm>
            <a:off x="76993" y="5708547"/>
            <a:ext cx="6704013" cy="3970318"/>
          </a:xfrm>
          <a:prstGeom prst="rect">
            <a:avLst/>
          </a:prstGeom>
          <a:noFill/>
        </p:spPr>
        <p:txBody>
          <a:bodyPr wrap="square" rtlCol="0">
            <a:spAutoFit/>
          </a:bodyPr>
          <a:lstStyle/>
          <a:p>
            <a:r>
              <a:rPr lang="en-GB" sz="1050" b="1" dirty="0"/>
              <a:t> System Purpose &amp; FIFO Mechanism</a:t>
            </a:r>
          </a:p>
          <a:p>
            <a:pPr marL="171450" indent="-171450">
              <a:buFont typeface="Arial" panose="020B0604020202020204" pitchFamily="34" charset="0"/>
              <a:buChar char="•"/>
            </a:pPr>
            <a:r>
              <a:rPr lang="en-GB" sz="1050" dirty="0"/>
              <a:t> </a:t>
            </a:r>
            <a:r>
              <a:rPr lang="en-GB" sz="1050" u="sng" dirty="0"/>
              <a:t>Clock Domain Crossing (CDC): </a:t>
            </a:r>
            <a:r>
              <a:rPr lang="en-GB" sz="1050" dirty="0"/>
              <a:t>The system utilizes an Asynchronous FIFO because it operates with different clock domains transmitting data to one another.</a:t>
            </a:r>
          </a:p>
          <a:p>
            <a:pPr marL="171450" indent="-171450">
              <a:buFont typeface="Arial" panose="020B0604020202020204" pitchFamily="34" charset="0"/>
              <a:buChar char="•"/>
            </a:pPr>
            <a:r>
              <a:rPr lang="en-GB" sz="1050" u="sng" dirty="0"/>
              <a:t> Memory Buffer: </a:t>
            </a:r>
            <a:r>
              <a:rPr lang="en-GB" sz="1050" dirty="0"/>
              <a:t>A memory buffer is implemented to ensure bug-free transmission and provide status indicators to external components for proper read/write operations.</a:t>
            </a:r>
          </a:p>
          <a:p>
            <a:pPr marL="171450" indent="-171450">
              <a:buFont typeface="Arial" panose="020B0604020202020204" pitchFamily="34" charset="0"/>
              <a:buChar char="•"/>
            </a:pPr>
            <a:r>
              <a:rPr lang="en-GB" sz="1050" dirty="0"/>
              <a:t> </a:t>
            </a:r>
            <a:r>
              <a:rPr lang="en-GB" sz="1050" u="sng" dirty="0"/>
              <a:t>Pointer Synchronization: </a:t>
            </a:r>
            <a:r>
              <a:rPr lang="en-GB" sz="1050" dirty="0"/>
              <a:t>Read and write pointers must be compared only after synchronization due to the asynchronous nature of the two clocks.</a:t>
            </a:r>
          </a:p>
          <a:p>
            <a:pPr marL="171450" indent="-171450">
              <a:buFont typeface="Arial" panose="020B0604020202020204" pitchFamily="34" charset="0"/>
              <a:buChar char="•"/>
            </a:pPr>
            <a:r>
              <a:rPr lang="en-GB" sz="1050" dirty="0"/>
              <a:t> Overflow Prevention: The "Almost Full" flag is used as a mechanism to avoid overriding memory within the FIFO.</a:t>
            </a:r>
          </a:p>
          <a:p>
            <a:endParaRPr lang="en-GB" sz="1050" dirty="0"/>
          </a:p>
          <a:p>
            <a:r>
              <a:rPr lang="en-GB" sz="1050" b="1" dirty="0"/>
              <a:t> Data Rates &amp; Transmission Calculations</a:t>
            </a:r>
          </a:p>
          <a:p>
            <a:pPr marL="171450" indent="-171450">
              <a:buFont typeface="Arial" panose="020B0604020202020204" pitchFamily="34" charset="0"/>
              <a:buChar char="•"/>
            </a:pPr>
            <a:r>
              <a:rPr lang="en-GB" sz="1050" dirty="0"/>
              <a:t> </a:t>
            </a:r>
            <a:r>
              <a:rPr lang="en-GB" sz="1050" u="sng" dirty="0"/>
              <a:t>Loading Speed: </a:t>
            </a:r>
            <a:r>
              <a:rPr lang="en-GB" sz="1050" dirty="0"/>
              <a:t>The FIFO is loaded at a frequency of 100MHz.</a:t>
            </a:r>
          </a:p>
          <a:p>
            <a:pPr marL="171450" indent="-171450">
              <a:buFont typeface="Arial" panose="020B0604020202020204" pitchFamily="34" charset="0"/>
              <a:buChar char="•"/>
            </a:pPr>
            <a:r>
              <a:rPr lang="en-GB" sz="1050" dirty="0"/>
              <a:t> </a:t>
            </a:r>
            <a:r>
              <a:rPr lang="en-GB" sz="1050" u="sng" dirty="0"/>
              <a:t>Reading Speed: </a:t>
            </a:r>
            <a:r>
              <a:rPr lang="en-GB" sz="1050" dirty="0"/>
              <a:t>Data is read at a rate of  operations per second.</a:t>
            </a:r>
          </a:p>
          <a:p>
            <a:pPr marL="171450" indent="-171450">
              <a:buFont typeface="Arial" panose="020B0604020202020204" pitchFamily="34" charset="0"/>
              <a:buChar char="•"/>
            </a:pPr>
            <a:r>
              <a:rPr lang="en-GB" sz="1050" dirty="0"/>
              <a:t> </a:t>
            </a:r>
            <a:r>
              <a:rPr lang="en-GB" sz="1050" u="sng" dirty="0"/>
              <a:t>Image Specifications: </a:t>
            </a:r>
            <a:r>
              <a:rPr lang="en-GB" sz="1050" dirty="0"/>
              <a:t>The image resolution is 256x256 pixels ,Each packet transmits exactly one </a:t>
            </a:r>
            <a:r>
              <a:rPr lang="en-GB" sz="1050" dirty="0" err="1"/>
              <a:t>pixel.The</a:t>
            </a:r>
            <a:r>
              <a:rPr lang="en-GB" sz="1050" dirty="0"/>
              <a:t> estimated total time to transmit the image to the PC is 2 seconds.</a:t>
            </a:r>
          </a:p>
          <a:p>
            <a:endParaRPr lang="en-GB" sz="1050" dirty="0"/>
          </a:p>
          <a:p>
            <a:r>
              <a:rPr lang="en-GB" sz="1050" b="1" dirty="0"/>
              <a:t>Load Analysis &amp; Flow Control</a:t>
            </a:r>
          </a:p>
          <a:p>
            <a:pPr marL="171450" indent="-171450">
              <a:buFont typeface="Arial" panose="020B0604020202020204" pitchFamily="34" charset="0"/>
              <a:buChar char="•"/>
            </a:pPr>
            <a:r>
              <a:rPr lang="en-GB" sz="1050" u="sng" dirty="0"/>
              <a:t>Transmission Frequency: </a:t>
            </a:r>
            <a:r>
              <a:rPr lang="en-GB" sz="1050" dirty="0"/>
              <a:t> The calculation  determines the transmission frequency.</a:t>
            </a:r>
          </a:p>
          <a:p>
            <a:pPr marL="171450" indent="-171450">
              <a:buFont typeface="Arial" panose="020B0604020202020204" pitchFamily="34" charset="0"/>
              <a:buChar char="•"/>
            </a:pPr>
            <a:r>
              <a:rPr lang="en-GB" sz="1050" u="sng" dirty="0"/>
              <a:t>FIFO Buffering: </a:t>
            </a:r>
            <a:r>
              <a:rPr lang="en-GB" sz="1050" dirty="0"/>
              <a:t>While a single packet is being transmitted, the pixel memory can fill the FIFO with 200 </a:t>
            </a:r>
            <a:r>
              <a:rPr lang="en-GB" sz="1050" dirty="0" err="1"/>
              <a:t>pRGB</a:t>
            </a:r>
            <a:r>
              <a:rPr lang="en-GB" sz="1050" dirty="0"/>
              <a:t> pixel data.(5Mbps/(16[bytes]*10[bit]) = 31250[packet/sec] =&gt; 100MHz/31250Hz = 3200 while we are transmitting 1 packet through the UART we can fill the </a:t>
            </a:r>
            <a:r>
              <a:rPr lang="en-GB" sz="1050" dirty="0" err="1"/>
              <a:t>fifo</a:t>
            </a:r>
            <a:r>
              <a:rPr lang="en-GB" sz="1050" dirty="0"/>
              <a:t> with 3200 new packets and we don’t want to start creating new BRAM of the </a:t>
            </a:r>
            <a:r>
              <a:rPr lang="en-GB" sz="1050" dirty="0" err="1"/>
              <a:t>img</a:t>
            </a:r>
            <a:r>
              <a:rPr lang="en-GB" sz="1050" dirty="0"/>
              <a:t>.</a:t>
            </a:r>
          </a:p>
          <a:p>
            <a:pPr marL="171450" indent="-171450">
              <a:buFont typeface="Arial" panose="020B0604020202020204" pitchFamily="34" charset="0"/>
              <a:buChar char="•"/>
            </a:pPr>
            <a:r>
              <a:rPr lang="en-GB" sz="1050" u="sng" dirty="0"/>
              <a:t>Operational Conclusion: </a:t>
            </a:r>
            <a:r>
              <a:rPr lang="en-GB" sz="1050" dirty="0"/>
              <a:t>Precise control of the data flow from the pixel memory to the  TX UART is mandatory to maintain data validity and prevent memory overrides.</a:t>
            </a:r>
          </a:p>
        </p:txBody>
      </p:sp>
    </p:spTree>
    <p:extLst>
      <p:ext uri="{BB962C8B-B14F-4D97-AF65-F5344CB8AC3E}">
        <p14:creationId xmlns:p14="http://schemas.microsoft.com/office/powerpoint/2010/main" val="1379967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7E5DD7-4F23-00E2-15FA-4F6137A31B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89BEAE-7394-2B8F-4D11-0F78F0793047}"/>
              </a:ext>
            </a:extLst>
          </p:cNvPr>
          <p:cNvSpPr txBox="1"/>
          <p:nvPr/>
        </p:nvSpPr>
        <p:spPr>
          <a:xfrm>
            <a:off x="111125" y="169239"/>
            <a:ext cx="1908175" cy="338554"/>
          </a:xfrm>
          <a:prstGeom prst="rect">
            <a:avLst/>
          </a:prstGeom>
          <a:noFill/>
        </p:spPr>
        <p:txBody>
          <a:bodyPr wrap="square" rtlCol="0">
            <a:spAutoFit/>
          </a:bodyPr>
          <a:lstStyle/>
          <a:p>
            <a:pPr algn="ctr"/>
            <a:r>
              <a:rPr lang="en-GB" sz="1600" b="1" dirty="0"/>
              <a:t>Sequencer</a:t>
            </a:r>
            <a:r>
              <a:rPr lang="he-IL" sz="1600" b="1" dirty="0"/>
              <a:t> </a:t>
            </a:r>
            <a:r>
              <a:rPr lang="en-US" sz="1600" b="1" dirty="0"/>
              <a:t>design</a:t>
            </a:r>
            <a:endParaRPr lang="en-IL" sz="1600" b="1" dirty="0"/>
          </a:p>
        </p:txBody>
      </p:sp>
      <p:pic>
        <p:nvPicPr>
          <p:cNvPr id="9" name="Picture 8" descr="A black and white lines&#10;&#10;AI-generated content may be incorrect.">
            <a:extLst>
              <a:ext uri="{FF2B5EF4-FFF2-40B4-BE49-F238E27FC236}">
                <a16:creationId xmlns:a16="http://schemas.microsoft.com/office/drawing/2014/main" id="{796EF1C7-397E-CD28-5675-947BA01AFEF8}"/>
              </a:ext>
            </a:extLst>
          </p:cNvPr>
          <p:cNvPicPr>
            <a:picLocks noChangeAspect="1"/>
          </p:cNvPicPr>
          <p:nvPr/>
        </p:nvPicPr>
        <p:blipFill>
          <a:blip r:embed="rId3"/>
          <a:stretch>
            <a:fillRect/>
          </a:stretch>
        </p:blipFill>
        <p:spPr>
          <a:xfrm>
            <a:off x="111125" y="7693204"/>
            <a:ext cx="6442075" cy="1268971"/>
          </a:xfrm>
          <a:prstGeom prst="rect">
            <a:avLst/>
          </a:prstGeom>
        </p:spPr>
      </p:pic>
      <p:pic>
        <p:nvPicPr>
          <p:cNvPr id="3" name="Picture 2" descr="A diagram of a computer&#10;&#10;AI-generated content may be incorrect.">
            <a:extLst>
              <a:ext uri="{FF2B5EF4-FFF2-40B4-BE49-F238E27FC236}">
                <a16:creationId xmlns:a16="http://schemas.microsoft.com/office/drawing/2014/main" id="{B9EA0209-CEF9-7868-B53A-156EAC09F43C}"/>
              </a:ext>
            </a:extLst>
          </p:cNvPr>
          <p:cNvPicPr>
            <a:picLocks noChangeAspect="1"/>
          </p:cNvPicPr>
          <p:nvPr/>
        </p:nvPicPr>
        <p:blipFill>
          <a:blip r:embed="rId4"/>
          <a:stretch>
            <a:fillRect/>
          </a:stretch>
        </p:blipFill>
        <p:spPr>
          <a:xfrm>
            <a:off x="1006486" y="5008487"/>
            <a:ext cx="4651352" cy="1321019"/>
          </a:xfrm>
          <a:prstGeom prst="rect">
            <a:avLst/>
          </a:prstGeom>
        </p:spPr>
      </p:pic>
      <p:pic>
        <p:nvPicPr>
          <p:cNvPr id="4" name="Picture 3" descr="A close-up of a white background&#10;&#10;AI-generated content may be incorrect.">
            <a:extLst>
              <a:ext uri="{FF2B5EF4-FFF2-40B4-BE49-F238E27FC236}">
                <a16:creationId xmlns:a16="http://schemas.microsoft.com/office/drawing/2014/main" id="{9584931E-C36D-EF4A-87B7-7B71C884503C}"/>
              </a:ext>
            </a:extLst>
          </p:cNvPr>
          <p:cNvPicPr>
            <a:picLocks noChangeAspect="1"/>
          </p:cNvPicPr>
          <p:nvPr/>
        </p:nvPicPr>
        <p:blipFill>
          <a:blip r:embed="rId5"/>
          <a:stretch>
            <a:fillRect/>
          </a:stretch>
        </p:blipFill>
        <p:spPr>
          <a:xfrm>
            <a:off x="372574" y="6445016"/>
            <a:ext cx="6267938" cy="1028425"/>
          </a:xfrm>
          <a:prstGeom prst="rect">
            <a:avLst/>
          </a:prstGeom>
        </p:spPr>
      </p:pic>
      <p:pic>
        <p:nvPicPr>
          <p:cNvPr id="5" name="Picture 4">
            <a:extLst>
              <a:ext uri="{FF2B5EF4-FFF2-40B4-BE49-F238E27FC236}">
                <a16:creationId xmlns:a16="http://schemas.microsoft.com/office/drawing/2014/main" id="{6E0B64EB-73F1-3E2C-4D7F-EF3591CF2A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3338" y="671919"/>
            <a:ext cx="4178276" cy="32814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3339037-D2A4-91BD-0695-4D6645BFE66B}"/>
              </a:ext>
            </a:extLst>
          </p:cNvPr>
          <p:cNvSpPr txBox="1"/>
          <p:nvPr/>
        </p:nvSpPr>
        <p:spPr>
          <a:xfrm>
            <a:off x="36386" y="1102141"/>
            <a:ext cx="2606952" cy="2631490"/>
          </a:xfrm>
          <a:prstGeom prst="rect">
            <a:avLst/>
          </a:prstGeom>
          <a:noFill/>
        </p:spPr>
        <p:txBody>
          <a:bodyPr wrap="square" rtlCol="0">
            <a:spAutoFit/>
          </a:bodyPr>
          <a:lstStyle/>
          <a:p>
            <a:r>
              <a:rPr lang="en-GB" sz="1100" b="1" dirty="0"/>
              <a:t>Sequencer Operations and Data Formatting</a:t>
            </a:r>
          </a:p>
          <a:p>
            <a:r>
              <a:rPr lang="en-GB" sz="1100" dirty="0"/>
              <a:t>A dedicated </a:t>
            </a:r>
            <a:r>
              <a:rPr lang="en-GB" sz="1100" b="1" dirty="0"/>
              <a:t>sequencer</a:t>
            </a:r>
            <a:r>
              <a:rPr lang="en-GB" sz="1100" dirty="0"/>
              <a:t> manages the </a:t>
            </a:r>
            <a:r>
              <a:rPr lang="en-GB" sz="1100" b="1" dirty="0"/>
              <a:t>Clock Domain Crossing (CDC)</a:t>
            </a:r>
            <a:r>
              <a:rPr lang="en-GB" sz="1100" dirty="0"/>
              <a:t> for the reading block, synchronizing high-speed operations with the core 100MHz system clock. Its primary responsibility is to regulate image data flow through register control and to time outgoing messages based on</a:t>
            </a:r>
            <a:r>
              <a:rPr lang="en-US" sz="1100" dirty="0"/>
              <a:t> </a:t>
            </a:r>
            <a:r>
              <a:rPr lang="en-US" sz="1100" dirty="0" err="1"/>
              <a:t>cmd</a:t>
            </a:r>
            <a:r>
              <a:rPr lang="en-GB" sz="1100" dirty="0"/>
              <a:t> priority. Additionally, the sequencer handles the proper filling of the FIFO by aggregating data from three RGB memories into a standardized </a:t>
            </a:r>
            <a:r>
              <a:rPr lang="en-GB" sz="1100" b="1" dirty="0"/>
              <a:t>32-bit format</a:t>
            </a:r>
            <a:r>
              <a:rPr lang="en-GB" sz="1100" dirty="0"/>
              <a:t> (8'h00 followed by the RGB data).</a:t>
            </a:r>
          </a:p>
        </p:txBody>
      </p:sp>
      <p:sp>
        <p:nvSpPr>
          <p:cNvPr id="8" name="TextBox 7">
            <a:extLst>
              <a:ext uri="{FF2B5EF4-FFF2-40B4-BE49-F238E27FC236}">
                <a16:creationId xmlns:a16="http://schemas.microsoft.com/office/drawing/2014/main" id="{10A497A0-EF19-C87B-4C6F-B6A037D09212}"/>
              </a:ext>
            </a:extLst>
          </p:cNvPr>
          <p:cNvSpPr txBox="1"/>
          <p:nvPr/>
        </p:nvSpPr>
        <p:spPr>
          <a:xfrm>
            <a:off x="1882774" y="4527114"/>
            <a:ext cx="2800629" cy="261610"/>
          </a:xfrm>
          <a:prstGeom prst="rect">
            <a:avLst/>
          </a:prstGeom>
          <a:noFill/>
        </p:spPr>
        <p:txBody>
          <a:bodyPr wrap="square" rtlCol="0">
            <a:spAutoFit/>
          </a:bodyPr>
          <a:lstStyle/>
          <a:p>
            <a:r>
              <a:rPr lang="en-US" sz="1100" dirty="0"/>
              <a:t>Msg composer FSM inside the sequencer</a:t>
            </a:r>
            <a:endParaRPr lang="en-IL" sz="1100" dirty="0"/>
          </a:p>
        </p:txBody>
      </p:sp>
      <p:sp>
        <p:nvSpPr>
          <p:cNvPr id="10" name="TextBox 9">
            <a:extLst>
              <a:ext uri="{FF2B5EF4-FFF2-40B4-BE49-F238E27FC236}">
                <a16:creationId xmlns:a16="http://schemas.microsoft.com/office/drawing/2014/main" id="{8CFAA4A8-581E-5340-FB1C-7C06A4F8D370}"/>
              </a:ext>
            </a:extLst>
          </p:cNvPr>
          <p:cNvSpPr txBox="1"/>
          <p:nvPr/>
        </p:nvSpPr>
        <p:spPr>
          <a:xfrm>
            <a:off x="1882773" y="9018637"/>
            <a:ext cx="2800629" cy="430887"/>
          </a:xfrm>
          <a:prstGeom prst="rect">
            <a:avLst/>
          </a:prstGeom>
          <a:noFill/>
        </p:spPr>
        <p:txBody>
          <a:bodyPr wrap="square" rtlCol="0">
            <a:spAutoFit/>
          </a:bodyPr>
          <a:lstStyle/>
          <a:p>
            <a:pPr algn="ctr"/>
            <a:r>
              <a:rPr lang="en-US" sz="1050" dirty="0" err="1"/>
              <a:t>img</a:t>
            </a:r>
            <a:r>
              <a:rPr lang="en-US" sz="1050" dirty="0"/>
              <a:t> data represent the </a:t>
            </a:r>
            <a:r>
              <a:rPr lang="en-US" sz="1050" dirty="0" err="1"/>
              <a:t>tx_data_out</a:t>
            </a:r>
            <a:r>
              <a:rPr lang="en-US" sz="1050" dirty="0"/>
              <a:t> when we are in IMG_MSG state of the FSM</a:t>
            </a:r>
            <a:endParaRPr lang="en-IL" sz="1050" dirty="0"/>
          </a:p>
        </p:txBody>
      </p:sp>
    </p:spTree>
    <p:extLst>
      <p:ext uri="{BB962C8B-B14F-4D97-AF65-F5344CB8AC3E}">
        <p14:creationId xmlns:p14="http://schemas.microsoft.com/office/powerpoint/2010/main" val="2069537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CFA12A-B179-FF5E-7AC8-C225E4486C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14CF3F-F2F1-F612-4E18-2D8A4B01D79C}"/>
              </a:ext>
            </a:extLst>
          </p:cNvPr>
          <p:cNvSpPr txBox="1"/>
          <p:nvPr/>
        </p:nvSpPr>
        <p:spPr>
          <a:xfrm>
            <a:off x="111125" y="169239"/>
            <a:ext cx="1889125" cy="338554"/>
          </a:xfrm>
          <a:prstGeom prst="rect">
            <a:avLst/>
          </a:prstGeom>
          <a:noFill/>
        </p:spPr>
        <p:txBody>
          <a:bodyPr wrap="square" rtlCol="0">
            <a:spAutoFit/>
          </a:bodyPr>
          <a:lstStyle/>
          <a:p>
            <a:pPr algn="ctr"/>
            <a:r>
              <a:rPr lang="en-US" sz="1600" b="1" dirty="0"/>
              <a:t>RGF – register file</a:t>
            </a:r>
            <a:endParaRPr lang="en-IL" sz="1600" b="1" dirty="0"/>
          </a:p>
        </p:txBody>
      </p:sp>
      <p:graphicFrame>
        <p:nvGraphicFramePr>
          <p:cNvPr id="4" name="Table 3">
            <a:extLst>
              <a:ext uri="{FF2B5EF4-FFF2-40B4-BE49-F238E27FC236}">
                <a16:creationId xmlns:a16="http://schemas.microsoft.com/office/drawing/2014/main" id="{FDE1408C-3933-9130-6F2A-31E94131D7EA}"/>
              </a:ext>
            </a:extLst>
          </p:cNvPr>
          <p:cNvGraphicFramePr>
            <a:graphicFrameLocks noGrp="1"/>
          </p:cNvGraphicFramePr>
          <p:nvPr>
            <p:extLst>
              <p:ext uri="{D42A27DB-BD31-4B8C-83A1-F6EECF244321}">
                <p14:modId xmlns:p14="http://schemas.microsoft.com/office/powerpoint/2010/main" val="344548120"/>
              </p:ext>
            </p:extLst>
          </p:nvPr>
        </p:nvGraphicFramePr>
        <p:xfrm>
          <a:off x="385763" y="712725"/>
          <a:ext cx="5915024" cy="2227389"/>
        </p:xfrm>
        <a:graphic>
          <a:graphicData uri="http://schemas.openxmlformats.org/drawingml/2006/table">
            <a:tbl>
              <a:tblPr/>
              <a:tblGrid>
                <a:gridCol w="526511">
                  <a:extLst>
                    <a:ext uri="{9D8B030D-6E8A-4147-A177-3AD203B41FA5}">
                      <a16:colId xmlns:a16="http://schemas.microsoft.com/office/drawing/2014/main" val="509127336"/>
                    </a:ext>
                  </a:extLst>
                </a:gridCol>
                <a:gridCol w="493604">
                  <a:extLst>
                    <a:ext uri="{9D8B030D-6E8A-4147-A177-3AD203B41FA5}">
                      <a16:colId xmlns:a16="http://schemas.microsoft.com/office/drawing/2014/main" val="614660415"/>
                    </a:ext>
                  </a:extLst>
                </a:gridCol>
                <a:gridCol w="707499">
                  <a:extLst>
                    <a:ext uri="{9D8B030D-6E8A-4147-A177-3AD203B41FA5}">
                      <a16:colId xmlns:a16="http://schemas.microsoft.com/office/drawing/2014/main" val="1648959482"/>
                    </a:ext>
                  </a:extLst>
                </a:gridCol>
                <a:gridCol w="633459">
                  <a:extLst>
                    <a:ext uri="{9D8B030D-6E8A-4147-A177-3AD203B41FA5}">
                      <a16:colId xmlns:a16="http://schemas.microsoft.com/office/drawing/2014/main" val="2753576858"/>
                    </a:ext>
                  </a:extLst>
                </a:gridCol>
                <a:gridCol w="271482">
                  <a:extLst>
                    <a:ext uri="{9D8B030D-6E8A-4147-A177-3AD203B41FA5}">
                      <a16:colId xmlns:a16="http://schemas.microsoft.com/office/drawing/2014/main" val="93227575"/>
                    </a:ext>
                  </a:extLst>
                </a:gridCol>
                <a:gridCol w="888488">
                  <a:extLst>
                    <a:ext uri="{9D8B030D-6E8A-4147-A177-3AD203B41FA5}">
                      <a16:colId xmlns:a16="http://schemas.microsoft.com/office/drawing/2014/main" val="1232904192"/>
                    </a:ext>
                  </a:extLst>
                </a:gridCol>
                <a:gridCol w="345523">
                  <a:extLst>
                    <a:ext uri="{9D8B030D-6E8A-4147-A177-3AD203B41FA5}">
                      <a16:colId xmlns:a16="http://schemas.microsoft.com/office/drawing/2014/main" val="3916610656"/>
                    </a:ext>
                  </a:extLst>
                </a:gridCol>
                <a:gridCol w="575872">
                  <a:extLst>
                    <a:ext uri="{9D8B030D-6E8A-4147-A177-3AD203B41FA5}">
                      <a16:colId xmlns:a16="http://schemas.microsoft.com/office/drawing/2014/main" val="3697540887"/>
                    </a:ext>
                  </a:extLst>
                </a:gridCol>
                <a:gridCol w="1472586">
                  <a:extLst>
                    <a:ext uri="{9D8B030D-6E8A-4147-A177-3AD203B41FA5}">
                      <a16:colId xmlns:a16="http://schemas.microsoft.com/office/drawing/2014/main" val="1366844966"/>
                    </a:ext>
                  </a:extLst>
                </a:gridCol>
              </a:tblGrid>
              <a:tr h="117231">
                <a:tc>
                  <a:txBody>
                    <a:bodyPr/>
                    <a:lstStyle/>
                    <a:p>
                      <a:pPr algn="ctr" fontAlgn="ctr">
                        <a:buNone/>
                      </a:pPr>
                      <a:r>
                        <a:rPr lang="en-US" sz="700" b="1" i="0" u="none" strike="noStrike">
                          <a:solidFill>
                            <a:srgbClr val="000000"/>
                          </a:solidFill>
                          <a:effectLst/>
                          <a:latin typeface="Aptos Narrow" panose="020B0004020202020204" pitchFamily="34" charset="0"/>
                        </a:rPr>
                        <a:t>Module RGF</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Base Addr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Reg Name</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Offset Address</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Type</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Fields</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Size</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Default Value</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Aptos Narrow" panose="020B0004020202020204" pitchFamily="34" charset="0"/>
                        </a:rPr>
                        <a:t>Description</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0539227"/>
                  </a:ext>
                </a:extLst>
              </a:tr>
              <a:tr h="117231">
                <a:tc rowSpan="11">
                  <a:txBody>
                    <a:bodyPr/>
                    <a:lstStyle/>
                    <a:p>
                      <a:pPr algn="ctr" fontAlgn="ctr">
                        <a:buNone/>
                      </a:pPr>
                      <a:r>
                        <a:rPr lang="en-US" sz="700" b="0" i="0" u="none" strike="noStrike">
                          <a:solidFill>
                            <a:srgbClr val="000000"/>
                          </a:solidFill>
                          <a:effectLst/>
                          <a:latin typeface="Aptos Narrow" panose="020B0004020202020204" pitchFamily="34" charset="0"/>
                        </a:rPr>
                        <a:t>SEQ</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11">
                  <a:txBody>
                    <a:bodyPr/>
                    <a:lstStyle/>
                    <a:p>
                      <a:pPr algn="ctr" fontAlgn="ctr">
                        <a:buNone/>
                      </a:pPr>
                      <a:r>
                        <a:rPr lang="en-US" sz="700" b="0" i="0" u="none" strike="noStrike">
                          <a:solidFill>
                            <a:srgbClr val="000000"/>
                          </a:solidFill>
                          <a:effectLst/>
                          <a:latin typeface="Aptos Narrow" panose="020B0004020202020204" pitchFamily="34" charset="0"/>
                        </a:rPr>
                        <a:t>0x04</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buNone/>
                      </a:pPr>
                      <a:r>
                        <a:rPr lang="en-US" sz="700" b="0" i="0" u="none" strike="noStrike">
                          <a:solidFill>
                            <a:srgbClr val="000000"/>
                          </a:solidFill>
                          <a:effectLst/>
                          <a:latin typeface="Aptos Narrow" panose="020B0004020202020204" pitchFamily="34" charset="0"/>
                        </a:rPr>
                        <a:t>IMG STATUS</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buNone/>
                      </a:pPr>
                      <a:r>
                        <a:rPr lang="en-US" sz="700" b="0" i="0" u="none" strike="noStrike">
                          <a:solidFill>
                            <a:srgbClr val="000000"/>
                          </a:solidFill>
                          <a:effectLst/>
                          <a:latin typeface="Aptos Narrow" panose="020B0004020202020204" pitchFamily="34" charset="0"/>
                        </a:rPr>
                        <a:t>0x0000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buNone/>
                      </a:pPr>
                      <a:r>
                        <a:rPr lang="en-US" sz="700" b="0" i="0" u="none" strike="noStrike">
                          <a:solidFill>
                            <a:srgbClr val="000000"/>
                          </a:solidFill>
                          <a:effectLst/>
                          <a:latin typeface="Aptos Narrow" panose="020B0004020202020204" pitchFamily="34" charset="0"/>
                        </a:rPr>
                        <a:t>RW</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Reserved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[31:21]</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padding to zero</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9930391"/>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img_ready</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[20]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700" b="0" i="0" u="none" strike="noStrike">
                          <a:solidFill>
                            <a:srgbClr val="000000"/>
                          </a:solidFill>
                          <a:effectLst/>
                          <a:latin typeface="Aptos Narrow" panose="020B0004020202020204" pitchFamily="34" charset="0"/>
                        </a:rPr>
                        <a:t>str trans the img with Tx</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671576"/>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img_width</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[19:10]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256</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700" b="0" i="0" u="none" strike="noStrike">
                          <a:solidFill>
                            <a:srgbClr val="000000"/>
                          </a:solidFill>
                          <a:effectLst/>
                          <a:latin typeface="Aptos Narrow" panose="020B0004020202020204" pitchFamily="34" charset="0"/>
                        </a:rPr>
                        <a:t>this field is constant val</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9064294"/>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img_height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[9:0]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256</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700" b="0" i="0" u="none" strike="noStrike">
                          <a:solidFill>
                            <a:srgbClr val="000000"/>
                          </a:solidFill>
                          <a:effectLst/>
                          <a:latin typeface="Aptos Narrow" panose="020B0004020202020204" pitchFamily="34" charset="0"/>
                        </a:rPr>
                        <a:t>this field is constant val</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5097892"/>
                  </a:ext>
                </a:extLst>
              </a:tr>
              <a:tr h="117231">
                <a:tc vMerge="1">
                  <a:txBody>
                    <a:bodyPr/>
                    <a:lstStyle/>
                    <a:p>
                      <a:endParaRPr lang="LID4096"/>
                    </a:p>
                  </a:txBody>
                  <a:tcPr/>
                </a:tc>
                <a:tc vMerge="1">
                  <a:txBody>
                    <a:bodyPr/>
                    <a:lstStyle/>
                    <a:p>
                      <a:endParaRPr lang="LID4096"/>
                    </a:p>
                  </a:txBody>
                  <a:tcPr/>
                </a:tc>
                <a:tc rowSpan="5">
                  <a:txBody>
                    <a:bodyPr/>
                    <a:lstStyle/>
                    <a:p>
                      <a:pPr algn="ctr" fontAlgn="ctr">
                        <a:buNone/>
                      </a:pPr>
                      <a:r>
                        <a:rPr lang="en-US" sz="700" b="0" i="0" u="none" strike="noStrike">
                          <a:solidFill>
                            <a:srgbClr val="000000"/>
                          </a:solidFill>
                          <a:effectLst/>
                          <a:latin typeface="Aptos Narrow" panose="020B0004020202020204" pitchFamily="34" charset="0"/>
                        </a:rPr>
                        <a:t>IMG TX MONITOR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fontAlgn="ctr">
                        <a:buNone/>
                      </a:pPr>
                      <a:r>
                        <a:rPr lang="en-US" sz="700" b="0" i="0" u="none" strike="noStrike">
                          <a:solidFill>
                            <a:srgbClr val="000000"/>
                          </a:solidFill>
                          <a:effectLst/>
                          <a:latin typeface="Aptos Narrow" panose="020B0004020202020204" pitchFamily="34" charset="0"/>
                        </a:rPr>
                        <a:t>0x0004</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fontAlgn="ctr">
                        <a:buNone/>
                      </a:pPr>
                      <a:r>
                        <a:rPr lang="en-US" sz="700" b="0" i="0" u="none" strike="noStrike">
                          <a:solidFill>
                            <a:srgbClr val="000000"/>
                          </a:solidFill>
                          <a:effectLst/>
                          <a:latin typeface="Aptos Narrow" panose="020B0004020202020204" pitchFamily="34" charset="0"/>
                        </a:rPr>
                        <a:t>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Reserved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[31:22]</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padding to zero</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3081374"/>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img_trans_err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[21]</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trans err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2803857"/>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img_trans_complition</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[20]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img trans done</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5451633"/>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col_cnt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[19:10]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col index</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4974870"/>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row_cnt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[9:0]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row index</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402736"/>
                  </a:ext>
                </a:extLst>
              </a:tr>
              <a:tr h="117231">
                <a:tc vMerge="1">
                  <a:txBody>
                    <a:bodyPr/>
                    <a:lstStyle/>
                    <a:p>
                      <a:endParaRPr lang="LID4096"/>
                    </a:p>
                  </a:txBody>
                  <a:tcPr/>
                </a:tc>
                <a:tc vMerge="1">
                  <a:txBody>
                    <a:bodyPr/>
                    <a:lstStyle/>
                    <a:p>
                      <a:endParaRPr lang="LID4096"/>
                    </a:p>
                  </a:txBody>
                  <a:tcPr/>
                </a:tc>
                <a:tc rowSpan="2">
                  <a:txBody>
                    <a:bodyPr/>
                    <a:lstStyle/>
                    <a:p>
                      <a:pPr algn="ctr" fontAlgn="ctr">
                        <a:buNone/>
                      </a:pPr>
                      <a:r>
                        <a:rPr lang="en-US" sz="700" b="0" i="0" u="none" strike="noStrike">
                          <a:solidFill>
                            <a:srgbClr val="000000"/>
                          </a:solidFill>
                          <a:effectLst/>
                          <a:latin typeface="Aptos Narrow" panose="020B0004020202020204" pitchFamily="34" charset="0"/>
                        </a:rPr>
                        <a:t>IMG CTRL</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700" b="0" i="0" u="none" strike="noStrike">
                          <a:solidFill>
                            <a:srgbClr val="000000"/>
                          </a:solidFill>
                          <a:effectLst/>
                          <a:latin typeface="Aptos Narrow" panose="020B0004020202020204" pitchFamily="34" charset="0"/>
                        </a:rPr>
                        <a:t>0x0008</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700" b="0" i="0" u="none" strike="noStrike">
                          <a:solidFill>
                            <a:srgbClr val="000000"/>
                          </a:solidFill>
                          <a:effectLst/>
                          <a:latin typeface="Aptos Narrow" panose="020B0004020202020204" pitchFamily="34" charset="0"/>
                        </a:rPr>
                        <a:t>W</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Reserved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[31:1]</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padding to zero</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6679314"/>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img_read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strting the img trans</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1919629"/>
                  </a:ext>
                </a:extLst>
              </a:tr>
              <a:tr h="117231">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74079230"/>
                  </a:ext>
                </a:extLst>
              </a:tr>
              <a:tr h="117231">
                <a:tc rowSpan="2">
                  <a:txBody>
                    <a:bodyPr/>
                    <a:lstStyle/>
                    <a:p>
                      <a:pPr algn="ctr" fontAlgn="ctr">
                        <a:buNone/>
                      </a:pPr>
                      <a:r>
                        <a:rPr lang="en-US" sz="700" b="0" i="0" u="none" strike="noStrike">
                          <a:solidFill>
                            <a:srgbClr val="000000"/>
                          </a:solidFill>
                          <a:effectLst/>
                          <a:latin typeface="Aptos Narrow" panose="020B0004020202020204" pitchFamily="34" charset="0"/>
                        </a:rPr>
                        <a:t>UART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buNone/>
                      </a:pPr>
                      <a:r>
                        <a:rPr lang="en-US" sz="700" b="0" i="0" u="none" strike="noStrike">
                          <a:solidFill>
                            <a:srgbClr val="000000"/>
                          </a:solidFill>
                          <a:effectLst/>
                          <a:latin typeface="Aptos Narrow" panose="020B0004020202020204" pitchFamily="34" charset="0"/>
                        </a:rPr>
                        <a:t>0x03</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RX_CNT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0x0000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Rx_bytes_cnt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[31:0]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Rx bytes recived counter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718430"/>
                  </a:ext>
                </a:extLst>
              </a:tr>
              <a:tr h="117231">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TX_CNT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0x0004</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Tx_bytes_cnt</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[31:0]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Tx bytes recived counter</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9435970"/>
                  </a:ext>
                </a:extLst>
              </a:tr>
              <a:tr h="117231">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L" sz="700" b="0" i="0" u="none" strike="noStrike">
                          <a:solidFill>
                            <a:srgbClr val="000000"/>
                          </a:solidFill>
                          <a:effectLst/>
                          <a:latin typeface="Aptos Narrow" panose="020B0004020202020204" pitchFamily="34" charset="0"/>
                        </a:rPr>
                        <a:t> </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246729869"/>
                  </a:ext>
                </a:extLst>
              </a:tr>
              <a:tr h="117231">
                <a:tc rowSpan="3">
                  <a:txBody>
                    <a:bodyPr/>
                    <a:lstStyle/>
                    <a:p>
                      <a:pPr algn="ctr" fontAlgn="ctr">
                        <a:buNone/>
                      </a:pPr>
                      <a:r>
                        <a:rPr lang="en-US" sz="700" b="0" i="0" u="none" strike="noStrike">
                          <a:solidFill>
                            <a:srgbClr val="000000"/>
                          </a:solidFill>
                          <a:effectLst/>
                          <a:latin typeface="Aptos Narrow" panose="020B0004020202020204" pitchFamily="34" charset="0"/>
                        </a:rPr>
                        <a:t>FIFO</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en-US" sz="700" b="0" i="0" u="none" strike="noStrike">
                          <a:solidFill>
                            <a:srgbClr val="000000"/>
                          </a:solidFill>
                          <a:effectLst/>
                          <a:latin typeface="Aptos Narrow" panose="020B0004020202020204" pitchFamily="34" charset="0"/>
                        </a:rPr>
                        <a:t>0x06</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en-US" sz="700" b="0" i="0" u="none" strike="noStrike">
                          <a:solidFill>
                            <a:srgbClr val="000000"/>
                          </a:solidFill>
                          <a:effectLst/>
                          <a:latin typeface="Aptos Narrow" panose="020B0004020202020204" pitchFamily="34" charset="0"/>
                        </a:rPr>
                        <a:t>FIFO CTRL</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en-US" sz="700" b="0" i="0" u="none" strike="noStrike">
                          <a:solidFill>
                            <a:srgbClr val="000000"/>
                          </a:solidFill>
                          <a:effectLst/>
                          <a:latin typeface="Aptos Narrow" panose="020B0004020202020204" pitchFamily="34" charset="0"/>
                        </a:rPr>
                        <a:t>0x0000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en-US" sz="700" b="0" i="0" u="none" strike="noStrike">
                          <a:solidFill>
                            <a:srgbClr val="000000"/>
                          </a:solidFill>
                          <a:effectLst/>
                          <a:latin typeface="Aptos Narrow" panose="020B0004020202020204" pitchFamily="34" charset="0"/>
                        </a:rPr>
                        <a:t>RW</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Reserved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[31:2]</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ptos Narrow" panose="020B0004020202020204" pitchFamily="34" charset="0"/>
                        </a:rPr>
                        <a:t>padding to zero</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4038063"/>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af_mod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[1]</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700" b="0" i="0" u="none" strike="noStrike">
                          <a:solidFill>
                            <a:srgbClr val="000000"/>
                          </a:solidFill>
                          <a:effectLst/>
                          <a:latin typeface="Aptos Narrow" panose="020B0004020202020204" pitchFamily="34" charset="0"/>
                        </a:rPr>
                        <a:t>3/4 from full fifo (0) , 7/8 from full fifo (1)</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829147"/>
                  </a:ext>
                </a:extLst>
              </a:tr>
              <a:tr h="117231">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vMerge="1">
                  <a:txBody>
                    <a:bodyPr/>
                    <a:lstStyle/>
                    <a:p>
                      <a:endParaRPr lang="LID4096"/>
                    </a:p>
                  </a:txBody>
                  <a:tcPr/>
                </a:tc>
                <a:tc>
                  <a:txBody>
                    <a:bodyPr/>
                    <a:lstStyle/>
                    <a:p>
                      <a:pPr algn="ctr" fontAlgn="ctr">
                        <a:buNone/>
                      </a:pPr>
                      <a:r>
                        <a:rPr lang="en-US" sz="700" b="0" i="0" u="none" strike="noStrike">
                          <a:solidFill>
                            <a:srgbClr val="000000"/>
                          </a:solidFill>
                          <a:effectLst/>
                          <a:latin typeface="Aptos Narrow" panose="020B0004020202020204" pitchFamily="34" charset="0"/>
                        </a:rPr>
                        <a:t>ae_mod</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L" sz="700" b="0" i="0" u="none" strike="noStrike">
                          <a:solidFill>
                            <a:srgbClr val="000000"/>
                          </a:solidFill>
                          <a:effectLst/>
                          <a:latin typeface="Aptos Narrow" panose="020B0004020202020204" pitchFamily="34" charset="0"/>
                        </a:rPr>
                        <a:t>0</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GB" sz="700" b="0" i="0" u="none" strike="noStrike" dirty="0">
                          <a:solidFill>
                            <a:srgbClr val="000000"/>
                          </a:solidFill>
                          <a:effectLst/>
                          <a:latin typeface="Aptos Narrow" panose="020B0004020202020204" pitchFamily="34" charset="0"/>
                        </a:rPr>
                        <a:t>1/4 from full </a:t>
                      </a:r>
                      <a:r>
                        <a:rPr lang="en-GB" sz="700" b="0" i="0" u="none" strike="noStrike" dirty="0" err="1">
                          <a:solidFill>
                            <a:srgbClr val="000000"/>
                          </a:solidFill>
                          <a:effectLst/>
                          <a:latin typeface="Aptos Narrow" panose="020B0004020202020204" pitchFamily="34" charset="0"/>
                        </a:rPr>
                        <a:t>fifo</a:t>
                      </a:r>
                      <a:r>
                        <a:rPr lang="en-GB" sz="700" b="0" i="0" u="none" strike="noStrike" dirty="0">
                          <a:solidFill>
                            <a:srgbClr val="000000"/>
                          </a:solidFill>
                          <a:effectLst/>
                          <a:latin typeface="Aptos Narrow" panose="020B0004020202020204" pitchFamily="34" charset="0"/>
                        </a:rPr>
                        <a:t> (0) , 1/8 from full </a:t>
                      </a:r>
                      <a:r>
                        <a:rPr lang="en-GB" sz="700" b="0" i="0" u="none" strike="noStrike" dirty="0" err="1">
                          <a:solidFill>
                            <a:srgbClr val="000000"/>
                          </a:solidFill>
                          <a:effectLst/>
                          <a:latin typeface="Aptos Narrow" panose="020B0004020202020204" pitchFamily="34" charset="0"/>
                        </a:rPr>
                        <a:t>fifo</a:t>
                      </a:r>
                      <a:r>
                        <a:rPr lang="en-GB" sz="700" b="0" i="0" u="none" strike="noStrike" dirty="0">
                          <a:solidFill>
                            <a:srgbClr val="000000"/>
                          </a:solidFill>
                          <a:effectLst/>
                          <a:latin typeface="Aptos Narrow" panose="020B0004020202020204" pitchFamily="34" charset="0"/>
                        </a:rPr>
                        <a:t> (1)</a:t>
                      </a:r>
                    </a:p>
                  </a:txBody>
                  <a:tcPr marL="3085" marR="3085" marT="30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3774379"/>
                  </a:ext>
                </a:extLst>
              </a:tr>
            </a:tbl>
          </a:graphicData>
        </a:graphic>
      </p:graphicFrame>
      <p:sp>
        <p:nvSpPr>
          <p:cNvPr id="5" name="TextBox 4">
            <a:extLst>
              <a:ext uri="{FF2B5EF4-FFF2-40B4-BE49-F238E27FC236}">
                <a16:creationId xmlns:a16="http://schemas.microsoft.com/office/drawing/2014/main" id="{3B7AC529-6CC1-051E-653A-6BF1CDC5E170}"/>
              </a:ext>
            </a:extLst>
          </p:cNvPr>
          <p:cNvSpPr txBox="1"/>
          <p:nvPr/>
        </p:nvSpPr>
        <p:spPr>
          <a:xfrm>
            <a:off x="111125" y="3245814"/>
            <a:ext cx="1889125" cy="338554"/>
          </a:xfrm>
          <a:prstGeom prst="rect">
            <a:avLst/>
          </a:prstGeom>
          <a:noFill/>
        </p:spPr>
        <p:txBody>
          <a:bodyPr wrap="square" rtlCol="0">
            <a:spAutoFit/>
          </a:bodyPr>
          <a:lstStyle/>
          <a:p>
            <a:pPr algn="ctr"/>
            <a:r>
              <a:rPr lang="en-US" sz="1600" b="1" dirty="0" err="1"/>
              <a:t>Img</a:t>
            </a:r>
            <a:r>
              <a:rPr lang="en-US" sz="1600" b="1" dirty="0"/>
              <a:t> data flow</a:t>
            </a:r>
            <a:endParaRPr lang="en-IL" sz="1600" b="1" dirty="0"/>
          </a:p>
        </p:txBody>
      </p:sp>
      <p:pic>
        <p:nvPicPr>
          <p:cNvPr id="9" name="Picture 8" descr="A screenshot of a computer&#10;&#10;AI-generated content may be incorrect.">
            <a:extLst>
              <a:ext uri="{FF2B5EF4-FFF2-40B4-BE49-F238E27FC236}">
                <a16:creationId xmlns:a16="http://schemas.microsoft.com/office/drawing/2014/main" id="{95249DE0-FEF8-291C-A0E6-57F7C1A2F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84368"/>
            <a:ext cx="6858000" cy="2492062"/>
          </a:xfrm>
          <a:prstGeom prst="rect">
            <a:avLst/>
          </a:prstGeom>
        </p:spPr>
      </p:pic>
      <p:pic>
        <p:nvPicPr>
          <p:cNvPr id="10" name="Picture 9" descr="A diagram of a computer&#10;&#10;AI-generated content may be incorrect.">
            <a:extLst>
              <a:ext uri="{FF2B5EF4-FFF2-40B4-BE49-F238E27FC236}">
                <a16:creationId xmlns:a16="http://schemas.microsoft.com/office/drawing/2014/main" id="{54225136-0B03-E047-67E1-94C0ED77FDD5}"/>
              </a:ext>
            </a:extLst>
          </p:cNvPr>
          <p:cNvPicPr>
            <a:picLocks noChangeAspect="1"/>
          </p:cNvPicPr>
          <p:nvPr/>
        </p:nvPicPr>
        <p:blipFill>
          <a:blip r:embed="rId4"/>
          <a:stretch>
            <a:fillRect/>
          </a:stretch>
        </p:blipFill>
        <p:spPr>
          <a:xfrm>
            <a:off x="1017599" y="6507676"/>
            <a:ext cx="4651352" cy="1321019"/>
          </a:xfrm>
          <a:prstGeom prst="rect">
            <a:avLst/>
          </a:prstGeom>
        </p:spPr>
      </p:pic>
      <p:pic>
        <p:nvPicPr>
          <p:cNvPr id="11" name="Picture 10" descr="A black and white lines&#10;&#10;AI-generated content may be incorrect.">
            <a:extLst>
              <a:ext uri="{FF2B5EF4-FFF2-40B4-BE49-F238E27FC236}">
                <a16:creationId xmlns:a16="http://schemas.microsoft.com/office/drawing/2014/main" id="{8CA8A675-6D9F-B2F6-619A-4D4083119FFE}"/>
              </a:ext>
            </a:extLst>
          </p:cNvPr>
          <p:cNvPicPr>
            <a:picLocks noChangeAspect="1"/>
          </p:cNvPicPr>
          <p:nvPr/>
        </p:nvPicPr>
        <p:blipFill>
          <a:blip r:embed="rId5"/>
          <a:stretch>
            <a:fillRect/>
          </a:stretch>
        </p:blipFill>
        <p:spPr>
          <a:xfrm>
            <a:off x="241300" y="8259941"/>
            <a:ext cx="6442075" cy="1268971"/>
          </a:xfrm>
          <a:prstGeom prst="rect">
            <a:avLst/>
          </a:prstGeom>
        </p:spPr>
      </p:pic>
    </p:spTree>
    <p:extLst>
      <p:ext uri="{BB962C8B-B14F-4D97-AF65-F5344CB8AC3E}">
        <p14:creationId xmlns:p14="http://schemas.microsoft.com/office/powerpoint/2010/main" val="3593125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731650-3DD2-31DC-8B5C-6DBFABE28D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585E10-D6D2-8E7A-4DCF-C8A8785F59B4}"/>
              </a:ext>
            </a:extLst>
          </p:cNvPr>
          <p:cNvSpPr txBox="1"/>
          <p:nvPr/>
        </p:nvSpPr>
        <p:spPr>
          <a:xfrm>
            <a:off x="111125" y="169239"/>
            <a:ext cx="3132138" cy="338554"/>
          </a:xfrm>
          <a:prstGeom prst="rect">
            <a:avLst/>
          </a:prstGeom>
          <a:noFill/>
        </p:spPr>
        <p:txBody>
          <a:bodyPr wrap="square" rtlCol="0">
            <a:spAutoFit/>
          </a:bodyPr>
          <a:lstStyle/>
          <a:p>
            <a:pPr algn="ctr"/>
            <a:r>
              <a:rPr lang="en-US" sz="1600" b="1" dirty="0"/>
              <a:t>Design resources comparison</a:t>
            </a:r>
            <a:endParaRPr lang="en-IL" sz="1600" b="1" dirty="0"/>
          </a:p>
        </p:txBody>
      </p:sp>
      <p:sp>
        <p:nvSpPr>
          <p:cNvPr id="17" name="TextBox 16">
            <a:extLst>
              <a:ext uri="{FF2B5EF4-FFF2-40B4-BE49-F238E27FC236}">
                <a16:creationId xmlns:a16="http://schemas.microsoft.com/office/drawing/2014/main" id="{227DC68F-C997-0E24-F24E-8260D718DE81}"/>
              </a:ext>
            </a:extLst>
          </p:cNvPr>
          <p:cNvSpPr txBox="1"/>
          <p:nvPr/>
        </p:nvSpPr>
        <p:spPr>
          <a:xfrm>
            <a:off x="168275" y="502169"/>
            <a:ext cx="2054225" cy="307777"/>
          </a:xfrm>
          <a:prstGeom prst="rect">
            <a:avLst/>
          </a:prstGeom>
          <a:noFill/>
        </p:spPr>
        <p:txBody>
          <a:bodyPr wrap="square" rtlCol="0">
            <a:spAutoFit/>
          </a:bodyPr>
          <a:lstStyle/>
          <a:p>
            <a:pPr algn="ctr"/>
            <a:r>
              <a:rPr lang="en-US" sz="1400" b="1" dirty="0"/>
              <a:t>FF expected vs actual</a:t>
            </a:r>
            <a:endParaRPr lang="en-IL" sz="1400" b="1" dirty="0"/>
          </a:p>
        </p:txBody>
      </p:sp>
      <p:graphicFrame>
        <p:nvGraphicFramePr>
          <p:cNvPr id="5" name="Table 4">
            <a:extLst>
              <a:ext uri="{FF2B5EF4-FFF2-40B4-BE49-F238E27FC236}">
                <a16:creationId xmlns:a16="http://schemas.microsoft.com/office/drawing/2014/main" id="{557755A1-0F0B-9F11-54A3-7B19CE1E1BF1}"/>
              </a:ext>
            </a:extLst>
          </p:cNvPr>
          <p:cNvGraphicFramePr>
            <a:graphicFrameLocks noGrp="1"/>
          </p:cNvGraphicFramePr>
          <p:nvPr>
            <p:extLst>
              <p:ext uri="{D42A27DB-BD31-4B8C-83A1-F6EECF244321}">
                <p14:modId xmlns:p14="http://schemas.microsoft.com/office/powerpoint/2010/main" val="4220243493"/>
              </p:ext>
            </p:extLst>
          </p:nvPr>
        </p:nvGraphicFramePr>
        <p:xfrm>
          <a:off x="55759" y="1207089"/>
          <a:ext cx="6746481" cy="3587122"/>
        </p:xfrm>
        <a:graphic>
          <a:graphicData uri="http://schemas.openxmlformats.org/drawingml/2006/table">
            <a:tbl>
              <a:tblPr/>
              <a:tblGrid>
                <a:gridCol w="918252">
                  <a:extLst>
                    <a:ext uri="{9D8B030D-6E8A-4147-A177-3AD203B41FA5}">
                      <a16:colId xmlns:a16="http://schemas.microsoft.com/office/drawing/2014/main" val="526695457"/>
                    </a:ext>
                  </a:extLst>
                </a:gridCol>
                <a:gridCol w="919604">
                  <a:extLst>
                    <a:ext uri="{9D8B030D-6E8A-4147-A177-3AD203B41FA5}">
                      <a16:colId xmlns:a16="http://schemas.microsoft.com/office/drawing/2014/main" val="2902474555"/>
                    </a:ext>
                  </a:extLst>
                </a:gridCol>
                <a:gridCol w="799295">
                  <a:extLst>
                    <a:ext uri="{9D8B030D-6E8A-4147-A177-3AD203B41FA5}">
                      <a16:colId xmlns:a16="http://schemas.microsoft.com/office/drawing/2014/main" val="746614361"/>
                    </a:ext>
                  </a:extLst>
                </a:gridCol>
                <a:gridCol w="596014">
                  <a:extLst>
                    <a:ext uri="{9D8B030D-6E8A-4147-A177-3AD203B41FA5}">
                      <a16:colId xmlns:a16="http://schemas.microsoft.com/office/drawing/2014/main" val="968871805"/>
                    </a:ext>
                  </a:extLst>
                </a:gridCol>
                <a:gridCol w="492299">
                  <a:extLst>
                    <a:ext uri="{9D8B030D-6E8A-4147-A177-3AD203B41FA5}">
                      <a16:colId xmlns:a16="http://schemas.microsoft.com/office/drawing/2014/main" val="64278338"/>
                    </a:ext>
                  </a:extLst>
                </a:gridCol>
                <a:gridCol w="743049">
                  <a:extLst>
                    <a:ext uri="{9D8B030D-6E8A-4147-A177-3AD203B41FA5}">
                      <a16:colId xmlns:a16="http://schemas.microsoft.com/office/drawing/2014/main" val="1098961957"/>
                    </a:ext>
                  </a:extLst>
                </a:gridCol>
                <a:gridCol w="466165">
                  <a:extLst>
                    <a:ext uri="{9D8B030D-6E8A-4147-A177-3AD203B41FA5}">
                      <a16:colId xmlns:a16="http://schemas.microsoft.com/office/drawing/2014/main" val="2564951224"/>
                    </a:ext>
                  </a:extLst>
                </a:gridCol>
                <a:gridCol w="1811803">
                  <a:extLst>
                    <a:ext uri="{9D8B030D-6E8A-4147-A177-3AD203B41FA5}">
                      <a16:colId xmlns:a16="http://schemas.microsoft.com/office/drawing/2014/main" val="1353405645"/>
                    </a:ext>
                  </a:extLst>
                </a:gridCol>
              </a:tblGrid>
              <a:tr h="245650">
                <a:tc>
                  <a:txBody>
                    <a:bodyPr/>
                    <a:lstStyle/>
                    <a:p>
                      <a:pPr algn="ctr" rtl="0" fontAlgn="ctr">
                        <a:buNone/>
                      </a:pPr>
                      <a:r>
                        <a:rPr lang="en-US" sz="1100" b="1" i="0" u="none" strike="noStrike">
                          <a:solidFill>
                            <a:srgbClr val="1F1F1F"/>
                          </a:solidFill>
                          <a:effectLst/>
                          <a:latin typeface="Arial" panose="020B0604020202020204" pitchFamily="34" charset="0"/>
                        </a:rPr>
                        <a:t>Module</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a:solidFill>
                            <a:srgbClr val="1F1F1F"/>
                          </a:solidFill>
                          <a:effectLst/>
                          <a:latin typeface="Arial" panose="020B0604020202020204" pitchFamily="34" charset="0"/>
                        </a:rPr>
                        <a:t>Total Registers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dirty="0">
                          <a:solidFill>
                            <a:srgbClr val="1F1F1F"/>
                          </a:solidFill>
                          <a:effectLst/>
                          <a:latin typeface="Arial" panose="020B0604020202020204" pitchFamily="34" charset="0"/>
                        </a:rPr>
                        <a:t>Expected FF </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a:solidFill>
                            <a:srgbClr val="1F1F1F"/>
                          </a:solidFill>
                          <a:effectLst/>
                          <a:latin typeface="Arial" panose="020B0604020202020204" pitchFamily="34" charset="0"/>
                        </a:rPr>
                        <a:t>Actual FF</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a:solidFill>
                            <a:srgbClr val="1F1F1F"/>
                          </a:solidFill>
                          <a:effectLst/>
                          <a:latin typeface="Arial" panose="020B0604020202020204" pitchFamily="34" charset="0"/>
                        </a:rPr>
                        <a:t>Opt Out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a:solidFill>
                            <a:srgbClr val="1F1F1F"/>
                          </a:solidFill>
                          <a:effectLst/>
                          <a:latin typeface="Arial" panose="020B0604020202020204" pitchFamily="34" charset="0"/>
                        </a:rPr>
                        <a:t>Replicated</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a:solidFill>
                            <a:srgbClr val="1F1F1F"/>
                          </a:solidFill>
                          <a:effectLst/>
                          <a:latin typeface="Arial" panose="020B0604020202020204" pitchFamily="34" charset="0"/>
                        </a:rPr>
                        <a:t>Partial</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sz="1100" b="1" i="0" u="none" strike="noStrike" dirty="0">
                          <a:solidFill>
                            <a:srgbClr val="1F1F1F"/>
                          </a:solidFill>
                          <a:effectLst/>
                          <a:latin typeface="Arial" panose="020B0604020202020204" pitchFamily="34" charset="0"/>
                        </a:rPr>
                        <a:t>Explanation</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0491198"/>
                  </a:ext>
                </a:extLst>
              </a:tr>
              <a:tr h="83420">
                <a:tc>
                  <a:txBody>
                    <a:bodyPr/>
                    <a:lstStyle/>
                    <a:p>
                      <a:pPr algn="ctr" rtl="0" fontAlgn="ctr">
                        <a:buNone/>
                      </a:pPr>
                      <a:r>
                        <a:rPr lang="en-US" sz="1100" b="1" i="0" u="none" strike="noStrike">
                          <a:solidFill>
                            <a:srgbClr val="1F1F1F"/>
                          </a:solidFill>
                          <a:effectLst/>
                          <a:latin typeface="Arial" panose="020B0604020202020204" pitchFamily="34" charset="0"/>
                        </a:rPr>
                        <a:t>mux_sync</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5</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67</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5</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US" sz="1100" b="0" i="0" u="none" strike="noStrike" dirty="0">
                          <a:solidFill>
                            <a:srgbClr val="1F1F1F"/>
                          </a:solidFill>
                          <a:effectLst/>
                          <a:latin typeface="Arial" panose="020B0604020202020204" pitchFamily="34" charset="0"/>
                        </a:rPr>
                        <a:t>Dead Module.</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3569342"/>
                  </a:ext>
                </a:extLst>
              </a:tr>
              <a:tr h="164535">
                <a:tc>
                  <a:txBody>
                    <a:bodyPr/>
                    <a:lstStyle/>
                    <a:p>
                      <a:pPr algn="ctr" rtl="0" fontAlgn="ctr">
                        <a:buNone/>
                      </a:pPr>
                      <a:r>
                        <a:rPr lang="en-US" sz="1100" b="1" i="0" u="none" strike="noStrike">
                          <a:solidFill>
                            <a:srgbClr val="1F1F1F"/>
                          </a:solidFill>
                          <a:effectLst/>
                          <a:latin typeface="Arial" panose="020B0604020202020204" pitchFamily="34" charset="0"/>
                        </a:rPr>
                        <a:t>Tx_phy</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9</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51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a:solidFill>
                            <a:srgbClr val="1F1F1F"/>
                          </a:solidFill>
                          <a:effectLst/>
                          <a:latin typeface="Arial" panose="020B0604020202020204" pitchFamily="34" charset="0"/>
                        </a:rPr>
                        <a:t>Half of the logic removed (mainly pause counter).</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2164075"/>
                  </a:ext>
                </a:extLst>
              </a:tr>
              <a:tr h="164535">
                <a:tc>
                  <a:txBody>
                    <a:bodyPr/>
                    <a:lstStyle/>
                    <a:p>
                      <a:pPr algn="ctr" rtl="0" fontAlgn="ctr">
                        <a:buNone/>
                      </a:pPr>
                      <a:r>
                        <a:rPr lang="en-US" sz="1100" b="1" i="0" u="none" strike="noStrike">
                          <a:solidFill>
                            <a:srgbClr val="1F1F1F"/>
                          </a:solidFill>
                          <a:effectLst/>
                          <a:latin typeface="Arial" panose="020B0604020202020204" pitchFamily="34" charset="0"/>
                        </a:rPr>
                        <a:t>fifo_async</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113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4</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a:solidFill>
                            <a:srgbClr val="1F1F1F"/>
                          </a:solidFill>
                          <a:effectLst/>
                          <a:latin typeface="Arial" panose="020B0604020202020204" pitchFamily="34" charset="0"/>
                        </a:rPr>
                        <a:t>FIFO Output was deleted!</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998139"/>
                  </a:ext>
                </a:extLst>
              </a:tr>
              <a:tr h="245650">
                <a:tc>
                  <a:txBody>
                    <a:bodyPr/>
                    <a:lstStyle/>
                    <a:p>
                      <a:pPr algn="ctr" rtl="0" fontAlgn="ctr">
                        <a:buNone/>
                      </a:pPr>
                      <a:r>
                        <a:rPr lang="en-US" sz="1100" b="1" i="0" u="none" strike="noStrike">
                          <a:solidFill>
                            <a:srgbClr val="1F1F1F"/>
                          </a:solidFill>
                          <a:effectLst/>
                          <a:latin typeface="Arial" panose="020B0604020202020204" pitchFamily="34" charset="0"/>
                        </a:rPr>
                        <a:t>msg_parser</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17</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210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156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err="1">
                          <a:solidFill>
                            <a:srgbClr val="1F1F1F"/>
                          </a:solidFill>
                          <a:effectLst/>
                          <a:latin typeface="Arial" panose="020B0604020202020204" pitchFamily="34" charset="0"/>
                        </a:rPr>
                        <a:t>Color</a:t>
                      </a:r>
                      <a:r>
                        <a:rPr lang="en-GB" sz="1100" b="0" i="0" u="none" strike="noStrike" dirty="0">
                          <a:solidFill>
                            <a:srgbClr val="1F1F1F"/>
                          </a:solidFill>
                          <a:effectLst/>
                          <a:latin typeface="Arial" panose="020B0604020202020204" pitchFamily="34" charset="0"/>
                        </a:rPr>
                        <a:t> calculations (RGB) removed due to lack of consumer.</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437295"/>
                  </a:ext>
                </a:extLst>
              </a:tr>
              <a:tr h="164535">
                <a:tc>
                  <a:txBody>
                    <a:bodyPr/>
                    <a:lstStyle/>
                    <a:p>
                      <a:pPr algn="ctr" rtl="0" fontAlgn="ctr">
                        <a:buNone/>
                      </a:pPr>
                      <a:r>
                        <a:rPr lang="en-US" sz="1100" b="1" i="0" u="none" strike="noStrike">
                          <a:solidFill>
                            <a:srgbClr val="1F1F1F"/>
                          </a:solidFill>
                          <a:effectLst/>
                          <a:latin typeface="Arial" panose="020B0604020202020204" pitchFamily="34" charset="0"/>
                        </a:rPr>
                        <a:t>pixel_mem</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232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228</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4</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a:solidFill>
                            <a:srgbClr val="1F1F1F"/>
                          </a:solidFill>
                          <a:effectLst/>
                          <a:latin typeface="Arial" panose="020B0604020202020204" pitchFamily="34" charset="0"/>
                        </a:rPr>
                        <a:t>Address replication + output removal.</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1354866"/>
                  </a:ext>
                </a:extLst>
              </a:tr>
              <a:tr h="164535">
                <a:tc>
                  <a:txBody>
                    <a:bodyPr/>
                    <a:lstStyle/>
                    <a:p>
                      <a:pPr algn="ctr" rtl="0" fontAlgn="ctr">
                        <a:buNone/>
                      </a:pPr>
                      <a:r>
                        <a:rPr lang="en-US" sz="1100" b="1" i="0" u="none" strike="noStrike">
                          <a:solidFill>
                            <a:srgbClr val="1F1F1F"/>
                          </a:solidFill>
                          <a:effectLst/>
                          <a:latin typeface="Arial" panose="020B0604020202020204" pitchFamily="34" charset="0"/>
                        </a:rPr>
                        <a:t>Rx_phy</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15</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71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62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a:solidFill>
                            <a:srgbClr val="1F1F1F"/>
                          </a:solidFill>
                          <a:effectLst/>
                          <a:latin typeface="Arial" panose="020B0604020202020204" pitchFamily="34" charset="0"/>
                        </a:rPr>
                        <a:t>Minor optimizations and replication for timing.</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5071279"/>
                  </a:ext>
                </a:extLst>
              </a:tr>
              <a:tr h="164535">
                <a:tc>
                  <a:txBody>
                    <a:bodyPr/>
                    <a:lstStyle/>
                    <a:p>
                      <a:pPr algn="ctr" rtl="0" fontAlgn="ctr">
                        <a:buNone/>
                      </a:pPr>
                      <a:r>
                        <a:rPr lang="en-US" sz="1100" b="1" i="0" u="none" strike="noStrike">
                          <a:solidFill>
                            <a:srgbClr val="1F1F1F"/>
                          </a:solidFill>
                          <a:effectLst/>
                          <a:latin typeface="Arial" panose="020B0604020202020204" pitchFamily="34" charset="0"/>
                        </a:rPr>
                        <a:t>sequencer</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19</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336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226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4</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a:solidFill>
                            <a:srgbClr val="1F1F1F"/>
                          </a:solidFill>
                          <a:effectLst/>
                          <a:latin typeface="Arial" panose="020B0604020202020204" pitchFamily="34" charset="0"/>
                        </a:rPr>
                        <a:t>Removal of unused vectors.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7010076"/>
                  </a:ext>
                </a:extLst>
              </a:tr>
              <a:tr h="164535">
                <a:tc>
                  <a:txBody>
                    <a:bodyPr/>
                    <a:lstStyle/>
                    <a:p>
                      <a:pPr algn="ctr" rtl="0" fontAlgn="ctr">
                        <a:buNone/>
                      </a:pPr>
                      <a:r>
                        <a:rPr lang="en-US" sz="1100" b="1" i="0" u="none" strike="noStrike">
                          <a:solidFill>
                            <a:srgbClr val="1F1F1F"/>
                          </a:solidFill>
                          <a:effectLst/>
                          <a:latin typeface="Arial" panose="020B0604020202020204" pitchFamily="34" charset="0"/>
                        </a:rPr>
                        <a:t>Rx_mac</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323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242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GB" sz="1100" b="0" i="0" u="none" strike="noStrike" dirty="0">
                          <a:solidFill>
                            <a:srgbClr val="1F1F1F"/>
                          </a:solidFill>
                          <a:effectLst/>
                          <a:latin typeface="Arial" panose="020B0604020202020204" pitchFamily="34" charset="0"/>
                        </a:rPr>
                        <a:t>Trimming of empty frame fields.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0591625"/>
                  </a:ext>
                </a:extLst>
              </a:tr>
              <a:tr h="83420">
                <a:tc>
                  <a:txBody>
                    <a:bodyPr/>
                    <a:lstStyle/>
                    <a:p>
                      <a:pPr algn="ctr" rtl="0" fontAlgn="ctr">
                        <a:buNone/>
                      </a:pPr>
                      <a:r>
                        <a:rPr lang="en-US" sz="1100" b="1" i="0" u="none" strike="noStrike">
                          <a:solidFill>
                            <a:srgbClr val="1F1F1F"/>
                          </a:solidFill>
                          <a:effectLst/>
                          <a:latin typeface="Arial" panose="020B0604020202020204" pitchFamily="34" charset="0"/>
                        </a:rPr>
                        <a:t>Tx_mac</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180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172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US" sz="1100" b="0" i="0" u="none" strike="noStrike" dirty="0">
                          <a:solidFill>
                            <a:srgbClr val="1F1F1F"/>
                          </a:solidFill>
                          <a:effectLst/>
                          <a:latin typeface="Arial" panose="020B0604020202020204" pitchFamily="34" charset="0"/>
                        </a:rPr>
                        <a:t>Functional / Intact.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3287315"/>
                  </a:ext>
                </a:extLst>
              </a:tr>
              <a:tr h="83420">
                <a:tc>
                  <a:txBody>
                    <a:bodyPr/>
                    <a:lstStyle/>
                    <a:p>
                      <a:pPr algn="ctr" rtl="0" fontAlgn="ctr">
                        <a:buNone/>
                      </a:pPr>
                      <a:r>
                        <a:rPr lang="en-US" sz="1100" b="1" i="0" u="none" strike="noStrike">
                          <a:solidFill>
                            <a:srgbClr val="1F1F1F"/>
                          </a:solidFill>
                          <a:effectLst/>
                          <a:latin typeface="Arial" panose="020B0604020202020204" pitchFamily="34" charset="0"/>
                        </a:rPr>
                        <a:t>rst_n_sync</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6</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5</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r>
                        <a:rPr lang="en-US" sz="1100" b="0" i="0" u="none" strike="noStrike" dirty="0">
                          <a:solidFill>
                            <a:srgbClr val="1F1F1F"/>
                          </a:solidFill>
                          <a:effectLst/>
                          <a:latin typeface="Arial" panose="020B0604020202020204" pitchFamily="34" charset="0"/>
                        </a:rPr>
                        <a:t>Functional / Intact.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8220750"/>
                  </a:ext>
                </a:extLst>
              </a:tr>
              <a:tr h="83420">
                <a:tc>
                  <a:txBody>
                    <a:bodyPr/>
                    <a:lstStyle/>
                    <a:p>
                      <a:pPr algn="ctr" rtl="0" fontAlgn="ctr">
                        <a:buNone/>
                      </a:pPr>
                      <a:r>
                        <a:rPr lang="en-US" sz="1100" b="1" i="0" u="none" strike="noStrike">
                          <a:solidFill>
                            <a:srgbClr val="1F1F1F"/>
                          </a:solidFill>
                          <a:effectLst/>
                          <a:latin typeface="Arial" panose="020B0604020202020204" pitchFamily="34" charset="0"/>
                        </a:rPr>
                        <a:t>uart_wrapper</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1</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32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endParaRPr lang="en-US" sz="1100" b="0" i="0" u="none" strike="noStrike" dirty="0">
                        <a:solidFill>
                          <a:srgbClr val="1F1F1F"/>
                        </a:solidFill>
                        <a:effectLst/>
                        <a:latin typeface="Arial" panose="020B060402020202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7346289"/>
                  </a:ext>
                </a:extLst>
              </a:tr>
              <a:tr h="83420">
                <a:tc>
                  <a:txBody>
                    <a:bodyPr/>
                    <a:lstStyle/>
                    <a:p>
                      <a:pPr algn="ctr" rtl="0" fontAlgn="ctr">
                        <a:buNone/>
                      </a:pPr>
                      <a:r>
                        <a:rPr lang="en-US" sz="1100" b="1" i="0" u="none" strike="noStrike">
                          <a:solidFill>
                            <a:srgbClr val="1F1F1F"/>
                          </a:solidFill>
                          <a:effectLst/>
                          <a:latin typeface="Arial" panose="020B0604020202020204" pitchFamily="34" charset="0"/>
                        </a:rPr>
                        <a:t>top</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2</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IL" sz="1100" b="0" i="0" u="none" strike="noStrike">
                          <a:solidFill>
                            <a:srgbClr val="1F1F1F"/>
                          </a:solidFill>
                          <a:effectLst/>
                          <a:latin typeface="Arial" panose="020B0604020202020204" pitchFamily="34" charset="0"/>
                        </a:rPr>
                        <a:t>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buNone/>
                      </a:pPr>
                      <a:endParaRPr lang="en-US" sz="1100" b="0" i="0" u="none" strike="noStrike" dirty="0">
                        <a:solidFill>
                          <a:srgbClr val="1F1F1F"/>
                        </a:solidFill>
                        <a:effectLst/>
                        <a:latin typeface="Arial" panose="020B060402020202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6778569"/>
                  </a:ext>
                </a:extLst>
              </a:tr>
              <a:tr h="83420">
                <a:tc>
                  <a:txBody>
                    <a:bodyPr/>
                    <a:lstStyle/>
                    <a:p>
                      <a:pPr algn="ctr" rtl="0" fontAlgn="ctr">
                        <a:buNone/>
                      </a:pPr>
                      <a:r>
                        <a:rPr lang="en-US" sz="1100" b="1" i="0" u="none" strike="noStrike">
                          <a:solidFill>
                            <a:srgbClr val="1F1F1F"/>
                          </a:solidFill>
                          <a:effectLst/>
                          <a:latin typeface="Arial" panose="020B0604020202020204" pitchFamily="34" charset="0"/>
                        </a:rPr>
                        <a:t>TOTAL</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rtl="0" fontAlgn="ctr">
                        <a:buNone/>
                      </a:pPr>
                      <a:r>
                        <a:rPr lang="en-IL" sz="1100" b="1" i="0" u="none" strike="noStrike">
                          <a:solidFill>
                            <a:srgbClr val="1F1F1F"/>
                          </a:solidFill>
                          <a:effectLst/>
                          <a:latin typeface="Arial" panose="020B0604020202020204" pitchFamily="34" charset="0"/>
                        </a:rPr>
                        <a: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rtl="0" fontAlgn="ctr">
                        <a:buNone/>
                      </a:pPr>
                      <a:r>
                        <a:rPr lang="en-IL" sz="1100" b="1" i="0" u="none" strike="noStrike">
                          <a:solidFill>
                            <a:srgbClr val="1F1F1F"/>
                          </a:solidFill>
                          <a:effectLst/>
                          <a:latin typeface="Arial" panose="020B0604020202020204" pitchFamily="34" charset="0"/>
                        </a:rPr>
                        <a:t>1623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rtl="0" fontAlgn="ctr">
                        <a:buNone/>
                      </a:pPr>
                      <a:r>
                        <a:rPr lang="en-IL" sz="1100" b="1" i="0" u="none" strike="noStrike">
                          <a:solidFill>
                            <a:srgbClr val="1F1F1F"/>
                          </a:solidFill>
                          <a:effectLst/>
                          <a:latin typeface="Arial" panose="020B0604020202020204" pitchFamily="34" charset="0"/>
                        </a:rPr>
                        <a:t>1180</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rtl="0" fontAlgn="ctr">
                        <a:buNone/>
                      </a:pPr>
                      <a:r>
                        <a:rPr lang="en-IL" sz="1100" b="1" i="0" u="none" strike="noStrike">
                          <a:solidFill>
                            <a:srgbClr val="1F1F1F"/>
                          </a:solidFill>
                          <a:effectLst/>
                          <a:latin typeface="Arial" panose="020B0604020202020204" pitchFamily="34" charset="0"/>
                        </a:rPr>
                        <a:t>19</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rtl="0" fontAlgn="ctr">
                        <a:buNone/>
                      </a:pPr>
                      <a:r>
                        <a:rPr lang="en-IL" sz="1100" b="1" i="0" u="none" strike="noStrike">
                          <a:solidFill>
                            <a:srgbClr val="1F1F1F"/>
                          </a:solidFill>
                          <a:effectLst/>
                          <a:latin typeface="Arial" panose="020B0604020202020204" pitchFamily="34" charset="0"/>
                        </a:rPr>
                        <a:t>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rtl="0" fontAlgn="ctr">
                        <a:buNone/>
                      </a:pPr>
                      <a:r>
                        <a:rPr lang="en-IL" sz="1100" b="1" i="0" u="none" strike="noStrike">
                          <a:solidFill>
                            <a:srgbClr val="1F1F1F"/>
                          </a:solidFill>
                          <a:effectLst/>
                          <a:latin typeface="Arial" panose="020B0604020202020204" pitchFamily="34" charset="0"/>
                        </a:rPr>
                        <a:t>23</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rtl="0" fontAlgn="ctr">
                        <a:buNone/>
                      </a:pPr>
                      <a:endParaRPr lang="en-IL" sz="1100" b="0" i="0" u="none" strike="noStrike" dirty="0">
                        <a:solidFill>
                          <a:srgbClr val="1F1F1F"/>
                        </a:solidFill>
                        <a:effectLst/>
                        <a:latin typeface="Arial" panose="020B060402020202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198889948"/>
                  </a:ext>
                </a:extLst>
              </a:tr>
            </a:tbl>
          </a:graphicData>
        </a:graphic>
      </p:graphicFrame>
      <p:sp>
        <p:nvSpPr>
          <p:cNvPr id="8" name="TextBox 7">
            <a:extLst>
              <a:ext uri="{FF2B5EF4-FFF2-40B4-BE49-F238E27FC236}">
                <a16:creationId xmlns:a16="http://schemas.microsoft.com/office/drawing/2014/main" id="{247E1EEF-AC42-ED06-3870-69803E56E5F5}"/>
              </a:ext>
            </a:extLst>
          </p:cNvPr>
          <p:cNvSpPr txBox="1"/>
          <p:nvPr/>
        </p:nvSpPr>
        <p:spPr>
          <a:xfrm>
            <a:off x="0" y="5111791"/>
            <a:ext cx="2054225" cy="276999"/>
          </a:xfrm>
          <a:prstGeom prst="rect">
            <a:avLst/>
          </a:prstGeom>
          <a:noFill/>
        </p:spPr>
        <p:txBody>
          <a:bodyPr wrap="square" rtlCol="0">
            <a:spAutoFit/>
          </a:bodyPr>
          <a:lstStyle/>
          <a:p>
            <a:pPr algn="ctr"/>
            <a:r>
              <a:rPr lang="en-US" sz="1200" b="1" dirty="0"/>
              <a:t>Synthesis report</a:t>
            </a:r>
            <a:endParaRPr lang="en-IL" sz="1200" b="1" dirty="0"/>
          </a:p>
        </p:txBody>
      </p:sp>
      <p:sp>
        <p:nvSpPr>
          <p:cNvPr id="9" name="TextBox 8">
            <a:extLst>
              <a:ext uri="{FF2B5EF4-FFF2-40B4-BE49-F238E27FC236}">
                <a16:creationId xmlns:a16="http://schemas.microsoft.com/office/drawing/2014/main" id="{B0CEC464-B3F7-B408-A1DE-EE2E8518CB96}"/>
              </a:ext>
            </a:extLst>
          </p:cNvPr>
          <p:cNvSpPr txBox="1"/>
          <p:nvPr/>
        </p:nvSpPr>
        <p:spPr>
          <a:xfrm>
            <a:off x="3967162" y="5111790"/>
            <a:ext cx="2054225" cy="276999"/>
          </a:xfrm>
          <a:prstGeom prst="rect">
            <a:avLst/>
          </a:prstGeom>
          <a:noFill/>
        </p:spPr>
        <p:txBody>
          <a:bodyPr wrap="square" rtlCol="0">
            <a:spAutoFit/>
          </a:bodyPr>
          <a:lstStyle/>
          <a:p>
            <a:pPr algn="ctr"/>
            <a:r>
              <a:rPr lang="en-US" sz="1200" b="1" dirty="0"/>
              <a:t>Implementation report</a:t>
            </a:r>
            <a:endParaRPr lang="en-IL" sz="1200" b="1" dirty="0"/>
          </a:p>
        </p:txBody>
      </p:sp>
      <p:pic>
        <p:nvPicPr>
          <p:cNvPr id="11" name="Picture 10" descr="A screenshot of a computer&#10;&#10;AI-generated content may be incorrect.">
            <a:extLst>
              <a:ext uri="{FF2B5EF4-FFF2-40B4-BE49-F238E27FC236}">
                <a16:creationId xmlns:a16="http://schemas.microsoft.com/office/drawing/2014/main" id="{B34096C4-0F00-ED25-5FA8-F6F565CF32A3}"/>
              </a:ext>
            </a:extLst>
          </p:cNvPr>
          <p:cNvPicPr>
            <a:picLocks noChangeAspect="1"/>
          </p:cNvPicPr>
          <p:nvPr/>
        </p:nvPicPr>
        <p:blipFill>
          <a:blip r:embed="rId3"/>
          <a:stretch>
            <a:fillRect/>
          </a:stretch>
        </p:blipFill>
        <p:spPr>
          <a:xfrm>
            <a:off x="68262" y="5426817"/>
            <a:ext cx="3217863" cy="1160244"/>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4EF4C4F-B175-6A10-73DC-46CF7EFD4DE5}"/>
              </a:ext>
            </a:extLst>
          </p:cNvPr>
          <p:cNvPicPr>
            <a:picLocks noChangeAspect="1"/>
          </p:cNvPicPr>
          <p:nvPr/>
        </p:nvPicPr>
        <p:blipFill>
          <a:blip r:embed="rId4"/>
          <a:stretch>
            <a:fillRect/>
          </a:stretch>
        </p:blipFill>
        <p:spPr>
          <a:xfrm>
            <a:off x="3560763" y="5426817"/>
            <a:ext cx="3297237" cy="1193403"/>
          </a:xfrm>
          <a:prstGeom prst="rect">
            <a:avLst/>
          </a:prstGeom>
        </p:spPr>
      </p:pic>
    </p:spTree>
    <p:extLst>
      <p:ext uri="{BB962C8B-B14F-4D97-AF65-F5344CB8AC3E}">
        <p14:creationId xmlns:p14="http://schemas.microsoft.com/office/powerpoint/2010/main" val="1244784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8C5A3-25CC-343F-991C-05DE3CD9B4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8C43ED-4A35-3D5C-D28A-13BA8647204F}"/>
              </a:ext>
            </a:extLst>
          </p:cNvPr>
          <p:cNvSpPr txBox="1"/>
          <p:nvPr/>
        </p:nvSpPr>
        <p:spPr>
          <a:xfrm>
            <a:off x="90488" y="186594"/>
            <a:ext cx="1615971" cy="338554"/>
          </a:xfrm>
          <a:prstGeom prst="rect">
            <a:avLst/>
          </a:prstGeom>
          <a:noFill/>
        </p:spPr>
        <p:txBody>
          <a:bodyPr wrap="square" rtlCol="0">
            <a:spAutoFit/>
          </a:bodyPr>
          <a:lstStyle/>
          <a:p>
            <a:pPr algn="ctr"/>
            <a:r>
              <a:rPr lang="en-US" sz="1600" b="1" dirty="0"/>
              <a:t>Simulation</a:t>
            </a:r>
            <a:endParaRPr lang="en-IL" sz="1600" b="1" dirty="0"/>
          </a:p>
        </p:txBody>
      </p:sp>
      <p:sp>
        <p:nvSpPr>
          <p:cNvPr id="5" name="TextBox 4">
            <a:extLst>
              <a:ext uri="{FF2B5EF4-FFF2-40B4-BE49-F238E27FC236}">
                <a16:creationId xmlns:a16="http://schemas.microsoft.com/office/drawing/2014/main" id="{B25D5326-A7FA-9AC0-CA2C-1217A7B9F0F8}"/>
              </a:ext>
            </a:extLst>
          </p:cNvPr>
          <p:cNvSpPr txBox="1"/>
          <p:nvPr/>
        </p:nvSpPr>
        <p:spPr>
          <a:xfrm>
            <a:off x="2621014" y="659642"/>
            <a:ext cx="1615971" cy="230832"/>
          </a:xfrm>
          <a:prstGeom prst="rect">
            <a:avLst/>
          </a:prstGeom>
          <a:noFill/>
        </p:spPr>
        <p:txBody>
          <a:bodyPr wrap="square" rtlCol="0">
            <a:spAutoFit/>
          </a:bodyPr>
          <a:lstStyle/>
          <a:p>
            <a:pPr algn="ctr"/>
            <a:r>
              <a:rPr lang="en-US" sz="900" b="1" dirty="0"/>
              <a:t>FIFO writing</a:t>
            </a:r>
            <a:endParaRPr lang="en-IL" sz="900" b="1" dirty="0"/>
          </a:p>
        </p:txBody>
      </p:sp>
      <p:pic>
        <p:nvPicPr>
          <p:cNvPr id="8" name="Picture 7" descr="A screen shot of a computer&#10;&#10;AI-generated content may be incorrect.">
            <a:extLst>
              <a:ext uri="{FF2B5EF4-FFF2-40B4-BE49-F238E27FC236}">
                <a16:creationId xmlns:a16="http://schemas.microsoft.com/office/drawing/2014/main" id="{2A7F2D62-FA7E-F6C0-5314-BB02607054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90474"/>
            <a:ext cx="6858000" cy="3086849"/>
          </a:xfrm>
          <a:prstGeom prst="rect">
            <a:avLst/>
          </a:prstGeom>
        </p:spPr>
      </p:pic>
      <p:pic>
        <p:nvPicPr>
          <p:cNvPr id="10" name="Picture 9" descr="A black screen with green lines&#10;&#10;AI-generated content may be incorrect.">
            <a:extLst>
              <a:ext uri="{FF2B5EF4-FFF2-40B4-BE49-F238E27FC236}">
                <a16:creationId xmlns:a16="http://schemas.microsoft.com/office/drawing/2014/main" id="{78CF79DC-46CA-D2C0-7340-268289F942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233988"/>
            <a:ext cx="6858000" cy="2768230"/>
          </a:xfrm>
          <a:prstGeom prst="rect">
            <a:avLst/>
          </a:prstGeom>
        </p:spPr>
      </p:pic>
      <p:sp>
        <p:nvSpPr>
          <p:cNvPr id="4" name="TextBox 3">
            <a:extLst>
              <a:ext uri="{FF2B5EF4-FFF2-40B4-BE49-F238E27FC236}">
                <a16:creationId xmlns:a16="http://schemas.microsoft.com/office/drawing/2014/main" id="{366C1B61-8A32-CC26-BBEA-35419CA83212}"/>
              </a:ext>
            </a:extLst>
          </p:cNvPr>
          <p:cNvSpPr txBox="1"/>
          <p:nvPr/>
        </p:nvSpPr>
        <p:spPr>
          <a:xfrm>
            <a:off x="2621014" y="5003156"/>
            <a:ext cx="1615971" cy="230832"/>
          </a:xfrm>
          <a:prstGeom prst="rect">
            <a:avLst/>
          </a:prstGeom>
          <a:noFill/>
        </p:spPr>
        <p:txBody>
          <a:bodyPr wrap="square" rtlCol="0">
            <a:spAutoFit/>
          </a:bodyPr>
          <a:lstStyle/>
          <a:p>
            <a:pPr algn="ctr"/>
            <a:r>
              <a:rPr lang="en-US" sz="900" b="1" dirty="0"/>
              <a:t>Pixel Memory writing</a:t>
            </a:r>
            <a:endParaRPr lang="en-IL" sz="900" b="1" dirty="0"/>
          </a:p>
        </p:txBody>
      </p:sp>
    </p:spTree>
    <p:extLst>
      <p:ext uri="{BB962C8B-B14F-4D97-AF65-F5344CB8AC3E}">
        <p14:creationId xmlns:p14="http://schemas.microsoft.com/office/powerpoint/2010/main" val="65427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A87750-C421-6AA7-BBE5-140A2B8AC5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27CD51-046E-A356-74C2-A1AB40FF1D3F}"/>
              </a:ext>
            </a:extLst>
          </p:cNvPr>
          <p:cNvSpPr txBox="1"/>
          <p:nvPr/>
        </p:nvSpPr>
        <p:spPr>
          <a:xfrm>
            <a:off x="90488" y="186594"/>
            <a:ext cx="1615971" cy="338554"/>
          </a:xfrm>
          <a:prstGeom prst="rect">
            <a:avLst/>
          </a:prstGeom>
          <a:noFill/>
        </p:spPr>
        <p:txBody>
          <a:bodyPr wrap="square" rtlCol="0">
            <a:spAutoFit/>
          </a:bodyPr>
          <a:lstStyle/>
          <a:p>
            <a:pPr algn="ctr"/>
            <a:r>
              <a:rPr lang="en-US" sz="1600" b="1" dirty="0"/>
              <a:t>Simulation</a:t>
            </a:r>
            <a:endParaRPr lang="en-IL" sz="1600" b="1" dirty="0"/>
          </a:p>
        </p:txBody>
      </p:sp>
      <p:pic>
        <p:nvPicPr>
          <p:cNvPr id="12" name="Picture 11" descr="A green lines on a black background&#10;&#10;AI-generated content may be incorrect.">
            <a:extLst>
              <a:ext uri="{FF2B5EF4-FFF2-40B4-BE49-F238E27FC236}">
                <a16:creationId xmlns:a16="http://schemas.microsoft.com/office/drawing/2014/main" id="{15865D83-2C53-059E-0C95-209B30CE7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 y="1138168"/>
            <a:ext cx="6324600" cy="3404869"/>
          </a:xfrm>
          <a:prstGeom prst="rect">
            <a:avLst/>
          </a:prstGeom>
        </p:spPr>
      </p:pic>
      <p:pic>
        <p:nvPicPr>
          <p:cNvPr id="14" name="Picture 13" descr="A green lines on a black background&#10;&#10;AI-generated content may be incorrect.">
            <a:extLst>
              <a:ext uri="{FF2B5EF4-FFF2-40B4-BE49-F238E27FC236}">
                <a16:creationId xmlns:a16="http://schemas.microsoft.com/office/drawing/2014/main" id="{8AB9A0B0-D772-FDFB-6919-5FD888BDCB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788" y="5864766"/>
            <a:ext cx="6600826" cy="3579715"/>
          </a:xfrm>
          <a:prstGeom prst="rect">
            <a:avLst/>
          </a:prstGeom>
        </p:spPr>
      </p:pic>
      <p:sp>
        <p:nvSpPr>
          <p:cNvPr id="3" name="TextBox 2">
            <a:extLst>
              <a:ext uri="{FF2B5EF4-FFF2-40B4-BE49-F238E27FC236}">
                <a16:creationId xmlns:a16="http://schemas.microsoft.com/office/drawing/2014/main" id="{D8F12EF5-57AB-6146-31B1-D6EDBA3881BA}"/>
              </a:ext>
            </a:extLst>
          </p:cNvPr>
          <p:cNvSpPr txBox="1"/>
          <p:nvPr/>
        </p:nvSpPr>
        <p:spPr>
          <a:xfrm>
            <a:off x="2549576" y="850142"/>
            <a:ext cx="1615971" cy="230832"/>
          </a:xfrm>
          <a:prstGeom prst="rect">
            <a:avLst/>
          </a:prstGeom>
          <a:noFill/>
        </p:spPr>
        <p:txBody>
          <a:bodyPr wrap="square" rtlCol="0">
            <a:spAutoFit/>
          </a:bodyPr>
          <a:lstStyle/>
          <a:p>
            <a:pPr algn="ctr"/>
            <a:r>
              <a:rPr lang="en-US" sz="900" b="1" dirty="0"/>
              <a:t>UART </a:t>
            </a:r>
            <a:r>
              <a:rPr lang="en-US" sz="900" b="1" dirty="0" err="1"/>
              <a:t>transmition</a:t>
            </a:r>
            <a:endParaRPr lang="en-IL" sz="900" b="1" dirty="0"/>
          </a:p>
        </p:txBody>
      </p:sp>
      <p:sp>
        <p:nvSpPr>
          <p:cNvPr id="4" name="TextBox 3">
            <a:extLst>
              <a:ext uri="{FF2B5EF4-FFF2-40B4-BE49-F238E27FC236}">
                <a16:creationId xmlns:a16="http://schemas.microsoft.com/office/drawing/2014/main" id="{7232E721-41B5-2BE8-603B-0A8CA86BA29B}"/>
              </a:ext>
            </a:extLst>
          </p:cNvPr>
          <p:cNvSpPr txBox="1"/>
          <p:nvPr/>
        </p:nvSpPr>
        <p:spPr>
          <a:xfrm>
            <a:off x="2549575" y="5633934"/>
            <a:ext cx="1615971" cy="230832"/>
          </a:xfrm>
          <a:prstGeom prst="rect">
            <a:avLst/>
          </a:prstGeom>
          <a:noFill/>
        </p:spPr>
        <p:txBody>
          <a:bodyPr wrap="square" rtlCol="0">
            <a:spAutoFit/>
          </a:bodyPr>
          <a:lstStyle/>
          <a:p>
            <a:pPr algn="ctr"/>
            <a:r>
              <a:rPr lang="en-US" sz="900" b="1" dirty="0"/>
              <a:t>SEQ image </a:t>
            </a:r>
            <a:r>
              <a:rPr lang="en-US" sz="900" b="1" dirty="0" err="1"/>
              <a:t>transmition</a:t>
            </a:r>
            <a:endParaRPr lang="en-IL" sz="900" b="1" dirty="0"/>
          </a:p>
        </p:txBody>
      </p:sp>
    </p:spTree>
    <p:extLst>
      <p:ext uri="{BB962C8B-B14F-4D97-AF65-F5344CB8AC3E}">
        <p14:creationId xmlns:p14="http://schemas.microsoft.com/office/powerpoint/2010/main" val="24578917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6666</TotalTime>
  <Words>1379</Words>
  <Application>Microsoft Office PowerPoint</Application>
  <PresentationFormat>A4 Paper (210x297 mm)</PresentationFormat>
  <Paragraphs>295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Aptos Narrow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אופיר קבל</dc:creator>
  <cp:lastModifiedBy>אופיר קבל</cp:lastModifiedBy>
  <cp:revision>220</cp:revision>
  <dcterms:created xsi:type="dcterms:W3CDTF">2025-10-28T12:11:07Z</dcterms:created>
  <dcterms:modified xsi:type="dcterms:W3CDTF">2026-02-14T21:09:39Z</dcterms:modified>
</cp:coreProperties>
</file>