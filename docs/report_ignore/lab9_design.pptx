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8" r:id="rId2"/>
    <p:sldId id="259" r:id="rId3"/>
    <p:sldId id="262" r:id="rId4"/>
    <p:sldId id="263" r:id="rId5"/>
    <p:sldId id="260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6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5223" autoAdjust="0"/>
  </p:normalViewPr>
  <p:slideViewPr>
    <p:cSldViewPr snapToGrid="0" showGuides="1">
      <p:cViewPr>
        <p:scale>
          <a:sx n="125" d="100"/>
          <a:sy n="125" d="100"/>
        </p:scale>
        <p:origin x="870" y="-2562"/>
      </p:cViewPr>
      <p:guideLst>
        <p:guide orient="horz" pos="3096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A470E-0A2A-416D-BDC8-6F21E347DCA9}" type="datetimeFigureOut">
              <a:rPr lang="en-IL" smtClean="0"/>
              <a:t>01/26/2026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B34BC-2BAD-4325-9221-DEC438B3932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82707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D3C93-5657-F568-4C07-C653DC452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03829-4B62-02C5-E439-0AAACE3C7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8D1C89-52FF-1AE8-E2CA-CABFAC3A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2762D-3115-8440-75FA-28E11BAC3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4B34BC-2BAD-4325-9221-DEC438B3932D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96760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14BA7-3521-DE02-69CF-F2814A10C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680A6-9D2A-5EBA-A9FA-FDA087E8D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F5ECC-8BA1-8FEC-E2B5-5DFDEEE46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BB10D-BF4F-559A-5858-A8456D9895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4B34BC-2BAD-4325-9221-DEC438B3932D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95064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D7E14-C4D4-7C5F-D3FD-6EC379B11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98B76D-A5D7-3E9F-7314-85C9322DD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38FFA-0236-7CFA-5D09-F3EAF17CB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631EB-1E3B-073B-05AB-5317D12F1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4B34BC-2BAD-4325-9221-DEC438B3932D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18782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4657A-9C7B-F477-6A9D-A42369E52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64538-A11C-E5EB-4C85-FA4508BEE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25C7BD-154A-3A1C-1B61-65064007D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A3198-D137-BAE7-23B1-7F05EEC9F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4B34BC-2BAD-4325-9221-DEC438B3932D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89813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85560-AA73-AC32-0C47-620E2B327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7EC63-8796-95EE-C6B0-C677D0FF1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62B34-A296-AC20-E343-888A7A7CC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7F67F-DA73-1216-FD5A-5B5B11734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4B34BC-2BAD-4325-9221-DEC438B3932D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15633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01/26/2026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9130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01/26/2026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5396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01/26/2026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55017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01/26/2026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68404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01/26/2026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60904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01/26/2026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76480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01/26/2026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50220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01/26/2026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7339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01/26/2026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62904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01/26/2026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65059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E709-064A-4295-8798-D27502C7A2AA}" type="datetimeFigureOut">
              <a:rPr lang="en-IL" smtClean="0"/>
              <a:t>01/26/2026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74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EE709-064A-4295-8798-D27502C7A2AA}" type="datetimeFigureOut">
              <a:rPr lang="en-IL" smtClean="0"/>
              <a:t>01/26/2026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A8C6F5-F3E6-4241-935F-6DF57ABF0A6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16557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9FBB2-067E-7DC8-7B44-11F04A262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F98934-406B-EDBB-02F3-1D014263FADA}"/>
              </a:ext>
            </a:extLst>
          </p:cNvPr>
          <p:cNvSpPr txBox="1"/>
          <p:nvPr/>
        </p:nvSpPr>
        <p:spPr>
          <a:xfrm>
            <a:off x="60429" y="213452"/>
            <a:ext cx="2546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Design process</a:t>
            </a:r>
            <a:endParaRPr lang="en-IL" sz="24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574CD0-9BAD-0DAC-035D-8F61B4107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94" y="618150"/>
            <a:ext cx="2204274" cy="2041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200" b="1" i="1" dirty="0"/>
              <a:t>Block diagram of the system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F951D19-95EC-3841-E228-D4BFE8ED9E72}"/>
              </a:ext>
            </a:extLst>
          </p:cNvPr>
          <p:cNvSpPr txBox="1">
            <a:spLocks/>
          </p:cNvSpPr>
          <p:nvPr/>
        </p:nvSpPr>
        <p:spPr>
          <a:xfrm>
            <a:off x="340020" y="6305550"/>
            <a:ext cx="6114284" cy="28860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GB" sz="900" b="1" dirty="0"/>
              <a:t>I/O: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/>
              <a:t>7SEG_DISPLAY for the RGB </a:t>
            </a:r>
            <a:r>
              <a:rPr lang="en-GB" sz="900" dirty="0" err="1"/>
              <a:t>leds</a:t>
            </a:r>
            <a:r>
              <a:rPr lang="en-GB" sz="900" dirty="0"/>
              <a:t> values.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/>
              <a:t>RGB </a:t>
            </a:r>
            <a:r>
              <a:rPr lang="en-GB" sz="900" dirty="0" err="1"/>
              <a:t>leds</a:t>
            </a:r>
            <a:r>
              <a:rPr lang="en-GB" sz="900" dirty="0"/>
              <a:t> – config state indicators.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/>
              <a:t>RX LINE – receiving the PC cmd.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/>
              <a:t>TX LINE – transmit the </a:t>
            </a:r>
            <a:r>
              <a:rPr lang="en-GB" sz="900" dirty="0" err="1"/>
              <a:t>R_data</a:t>
            </a:r>
            <a:r>
              <a:rPr lang="en-GB" sz="900" dirty="0"/>
              <a:t> requested by the PC.  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900" b="1" dirty="0"/>
              <a:t>Blocks: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 err="1"/>
              <a:t>UART_wrapper</a:t>
            </a:r>
            <a:r>
              <a:rPr lang="en-GB" sz="900" dirty="0"/>
              <a:t> – responsible of the MAC-PHY of the RX,TX.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/>
              <a:t>Sequencer – responsible to the timing between the reading from the </a:t>
            </a:r>
            <a:r>
              <a:rPr lang="en-GB" sz="900" dirty="0" err="1"/>
              <a:t>pixel_mem</a:t>
            </a:r>
            <a:r>
              <a:rPr lang="en-GB" sz="900" dirty="0"/>
              <a:t> and transmitting pixels to the pc using Tx line.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 err="1"/>
              <a:t>Msg_parser</a:t>
            </a:r>
            <a:r>
              <a:rPr lang="en-GB" sz="900" dirty="0"/>
              <a:t> – analysis the </a:t>
            </a:r>
            <a:r>
              <a:rPr lang="en-GB" sz="900" dirty="0" err="1"/>
              <a:t>cmd</a:t>
            </a:r>
            <a:r>
              <a:rPr lang="en-GB" sz="900" dirty="0"/>
              <a:t> received and convert it to signals.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 err="1"/>
              <a:t>Syncronizer</a:t>
            </a:r>
            <a:r>
              <a:rPr lang="en-GB" sz="900" dirty="0"/>
              <a:t> -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 err="1"/>
              <a:t>Addr_selection</a:t>
            </a:r>
            <a:r>
              <a:rPr lang="en-GB" sz="900" dirty="0"/>
              <a:t> – enabling the WR RFG according to the </a:t>
            </a:r>
            <a:r>
              <a:rPr lang="en-GB" sz="900" dirty="0" err="1"/>
              <a:t>cmd</a:t>
            </a:r>
            <a:r>
              <a:rPr lang="en-GB" sz="900" dirty="0"/>
              <a:t> </a:t>
            </a:r>
            <a:r>
              <a:rPr lang="en-GB" sz="900" dirty="0" err="1"/>
              <a:t>addres</a:t>
            </a:r>
            <a:r>
              <a:rPr lang="en-GB" sz="900" dirty="0"/>
              <a:t> and mux between the </a:t>
            </a:r>
            <a:r>
              <a:rPr lang="en-GB" sz="900" dirty="0" err="1"/>
              <a:t>r_data</a:t>
            </a:r>
            <a:r>
              <a:rPr lang="en-GB" sz="900" dirty="0"/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 err="1"/>
              <a:t>Display_wrapper</a:t>
            </a:r>
            <a:r>
              <a:rPr lang="en-GB" sz="900" dirty="0"/>
              <a:t>– responsible for the 7 segment configuration.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 err="1"/>
              <a:t>LED_wrapper</a:t>
            </a:r>
            <a:r>
              <a:rPr lang="en-GB" sz="900" dirty="0"/>
              <a:t> – containing the RGB </a:t>
            </a:r>
            <a:r>
              <a:rPr lang="en-GB" sz="900" dirty="0" err="1"/>
              <a:t>leds</a:t>
            </a:r>
            <a:r>
              <a:rPr lang="en-GB" sz="900" dirty="0"/>
              <a:t> config and the </a:t>
            </a:r>
            <a:r>
              <a:rPr lang="en-GB" sz="900" dirty="0" err="1"/>
              <a:t>cie</a:t>
            </a:r>
            <a:r>
              <a:rPr lang="en-GB" sz="900" dirty="0"/>
              <a:t> of each led 16/17.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900" dirty="0" err="1"/>
              <a:t>PWM_wrapper</a:t>
            </a:r>
            <a:r>
              <a:rPr lang="en-GB" sz="900" dirty="0"/>
              <a:t> – converting the raw data of the </a:t>
            </a:r>
            <a:r>
              <a:rPr lang="en-GB" sz="900" dirty="0" err="1"/>
              <a:t>LED_wrapper</a:t>
            </a:r>
            <a:r>
              <a:rPr lang="en-GB" sz="900" dirty="0"/>
              <a:t> into </a:t>
            </a:r>
            <a:r>
              <a:rPr lang="en-GB" sz="900" dirty="0" err="1"/>
              <a:t>pwm</a:t>
            </a:r>
            <a:r>
              <a:rPr lang="en-GB" sz="900" dirty="0"/>
              <a:t> output.  </a:t>
            </a:r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130B05ED-2EB6-7069-0E0C-C95984D33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472968"/>
            <a:ext cx="6858000" cy="180412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6212FD4-708F-271D-5DC9-59FF17723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601" y="909172"/>
            <a:ext cx="5911230" cy="3616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2925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E9CB1-35DC-ABEE-7A54-A1178B4D0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E4EFBC-218A-E3F8-6C21-ACE3C7BF3315}"/>
              </a:ext>
            </a:extLst>
          </p:cNvPr>
          <p:cNvSpPr txBox="1"/>
          <p:nvPr/>
        </p:nvSpPr>
        <p:spPr>
          <a:xfrm>
            <a:off x="111125" y="169239"/>
            <a:ext cx="1615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FSM</a:t>
            </a:r>
            <a:r>
              <a:rPr lang="he-IL" sz="1600" b="1" dirty="0"/>
              <a:t> </a:t>
            </a:r>
            <a:r>
              <a:rPr lang="en-US" sz="1600" b="1" dirty="0"/>
              <a:t>design</a:t>
            </a:r>
            <a:endParaRPr lang="en-IL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FD7C29-1419-0D0F-70E4-A7AA23D6AB28}"/>
              </a:ext>
            </a:extLst>
          </p:cNvPr>
          <p:cNvSpPr txBox="1"/>
          <p:nvPr/>
        </p:nvSpPr>
        <p:spPr>
          <a:xfrm>
            <a:off x="338085" y="427129"/>
            <a:ext cx="1162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err="1"/>
              <a:t>mac_fsm</a:t>
            </a:r>
            <a:endParaRPr lang="en-IL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0DE5A6-48A6-92E1-8EF7-66D90E4F860A}"/>
              </a:ext>
            </a:extLst>
          </p:cNvPr>
          <p:cNvSpPr txBox="1"/>
          <p:nvPr/>
        </p:nvSpPr>
        <p:spPr>
          <a:xfrm>
            <a:off x="11001" y="5080441"/>
            <a:ext cx="12558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Msg </a:t>
            </a:r>
            <a:r>
              <a:rPr lang="en-US" sz="1100" b="1" dirty="0" err="1"/>
              <a:t>composser</a:t>
            </a:r>
            <a:endParaRPr lang="en-IL" sz="1100" b="1" dirty="0"/>
          </a:p>
        </p:txBody>
      </p:sp>
      <p:pic>
        <p:nvPicPr>
          <p:cNvPr id="8" name="Picture 7" descr="A screenshot of a diagram&#10;&#10;AI-generated content may be incorrect.">
            <a:extLst>
              <a:ext uri="{FF2B5EF4-FFF2-40B4-BE49-F238E27FC236}">
                <a16:creationId xmlns:a16="http://schemas.microsoft.com/office/drawing/2014/main" id="{E201A634-3D9D-F681-4235-B0184824E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050" y="813053"/>
            <a:ext cx="1662595" cy="4222273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D9307D-0A1C-C07C-4491-C65059076B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37" t="1332" r="2488" b="325"/>
          <a:stretch>
            <a:fillRect/>
          </a:stretch>
        </p:blipFill>
        <p:spPr>
          <a:xfrm>
            <a:off x="4175035" y="813053"/>
            <a:ext cx="2149656" cy="416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6E1FC1-08D2-A7D2-E3BA-12992D5FB8D5}"/>
              </a:ext>
            </a:extLst>
          </p:cNvPr>
          <p:cNvSpPr txBox="1"/>
          <p:nvPr/>
        </p:nvSpPr>
        <p:spPr>
          <a:xfrm>
            <a:off x="123825" y="7492427"/>
            <a:ext cx="1162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err="1"/>
              <a:t>Tx_fsm_ff</a:t>
            </a:r>
            <a:endParaRPr lang="en-IL" sz="1100" b="1" dirty="0"/>
          </a:p>
        </p:txBody>
      </p:sp>
      <p:pic>
        <p:nvPicPr>
          <p:cNvPr id="6" name="Picture 5" descr="A diagram of a computer&#10;&#10;AI-generated content may be incorrect.">
            <a:extLst>
              <a:ext uri="{FF2B5EF4-FFF2-40B4-BE49-F238E27FC236}">
                <a16:creationId xmlns:a16="http://schemas.microsoft.com/office/drawing/2014/main" id="{25D13D3F-D41D-8273-B19A-17DE03A8DA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5470524"/>
            <a:ext cx="5737225" cy="16294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DD72EF-8EF4-4E24-F289-CBA66983D9A1}"/>
              </a:ext>
            </a:extLst>
          </p:cNvPr>
          <p:cNvSpPr txBox="1"/>
          <p:nvPr/>
        </p:nvSpPr>
        <p:spPr>
          <a:xfrm>
            <a:off x="3429000" y="7461005"/>
            <a:ext cx="1162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err="1"/>
              <a:t>Rx_fsm_ff</a:t>
            </a:r>
            <a:endParaRPr lang="en-IL" sz="1100" b="1" dirty="0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81BC6F-81B0-BCA5-2404-8190F984A4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125" y="7754037"/>
            <a:ext cx="3366122" cy="1252611"/>
          </a:xfrm>
          <a:prstGeom prst="rect">
            <a:avLst/>
          </a:prstGeom>
        </p:spPr>
      </p:pic>
      <p:pic>
        <p:nvPicPr>
          <p:cNvPr id="17" name="Picture 1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2AA5672-F4B0-12FC-2D98-F2D3B0A729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3462" y="7754036"/>
            <a:ext cx="3216275" cy="125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764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0E32DC-64EE-BE64-BD6F-46F5CE318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2E85EA-6FE8-D56B-026A-FB7CC6E0E99F}"/>
              </a:ext>
            </a:extLst>
          </p:cNvPr>
          <p:cNvSpPr txBox="1"/>
          <p:nvPr/>
        </p:nvSpPr>
        <p:spPr>
          <a:xfrm>
            <a:off x="111125" y="169239"/>
            <a:ext cx="1748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 err="1"/>
              <a:t>Seqencer</a:t>
            </a:r>
            <a:r>
              <a:rPr lang="he-IL" sz="1600" b="1" dirty="0"/>
              <a:t> </a:t>
            </a:r>
            <a:r>
              <a:rPr lang="en-US" sz="1600" b="1" dirty="0"/>
              <a:t>design</a:t>
            </a:r>
            <a:endParaRPr lang="en-IL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48C618-616B-B285-4F2B-FD4BD655D088}"/>
              </a:ext>
            </a:extLst>
          </p:cNvPr>
          <p:cNvSpPr txBox="1"/>
          <p:nvPr/>
        </p:nvSpPr>
        <p:spPr>
          <a:xfrm>
            <a:off x="0" y="7348576"/>
            <a:ext cx="11620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err="1"/>
              <a:t>Seq_fsm_ff</a:t>
            </a:r>
            <a:endParaRPr lang="en-IL" sz="1100" b="1" dirty="0"/>
          </a:p>
        </p:txBody>
      </p:sp>
      <p:pic>
        <p:nvPicPr>
          <p:cNvPr id="9" name="Picture 8" descr="A black and white lines&#10;&#10;AI-generated content may be incorrect.">
            <a:extLst>
              <a:ext uri="{FF2B5EF4-FFF2-40B4-BE49-F238E27FC236}">
                <a16:creationId xmlns:a16="http://schemas.microsoft.com/office/drawing/2014/main" id="{4BCB2A99-3F02-DFB0-E84C-0AD83CE70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62" y="2326446"/>
            <a:ext cx="6442075" cy="1268971"/>
          </a:xfrm>
          <a:prstGeom prst="rect">
            <a:avLst/>
          </a:prstGeom>
        </p:spPr>
      </p:pic>
      <p:pic>
        <p:nvPicPr>
          <p:cNvPr id="15" name="Picture 14" descr="A black and white lines&#10;&#10;AI-generated content may be incorrect.">
            <a:extLst>
              <a:ext uri="{FF2B5EF4-FFF2-40B4-BE49-F238E27FC236}">
                <a16:creationId xmlns:a16="http://schemas.microsoft.com/office/drawing/2014/main" id="{4138A8FF-D166-01FE-2BDC-66F9C74D1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404" y="558113"/>
            <a:ext cx="6141671" cy="17325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61B44C1-7156-3C8F-196E-8F916A0EDEC5}"/>
              </a:ext>
            </a:extLst>
          </p:cNvPr>
          <p:cNvSpPr txBox="1"/>
          <p:nvPr/>
        </p:nvSpPr>
        <p:spPr>
          <a:xfrm>
            <a:off x="1860062" y="6930514"/>
            <a:ext cx="2887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/>
              <a:t>IMG_TX_MON_R  </a:t>
            </a:r>
            <a:r>
              <a:rPr lang="en-US" sz="700" b="1" dirty="0" err="1"/>
              <a:t>clk</a:t>
            </a:r>
            <a:r>
              <a:rPr lang="en-US" sz="700" b="1" dirty="0"/>
              <a:t> port connected to the </a:t>
            </a:r>
            <a:r>
              <a:rPr lang="en-US" sz="700" b="1" dirty="0" err="1"/>
              <a:t>w_clk</a:t>
            </a:r>
            <a:r>
              <a:rPr lang="en-US" sz="700" b="1" dirty="0"/>
              <a:t> because he should update in real time how many pixels already </a:t>
            </a:r>
            <a:r>
              <a:rPr lang="en-US" sz="700" b="1" dirty="0" err="1"/>
              <a:t>transsmited</a:t>
            </a:r>
            <a:endParaRPr lang="en-IL" sz="700" b="1" dirty="0"/>
          </a:p>
        </p:txBody>
      </p:sp>
      <p:pic>
        <p:nvPicPr>
          <p:cNvPr id="18" name="Picture 17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FF2E2427-E771-EABE-5D1A-0FAD3DAB30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031" y="7839995"/>
            <a:ext cx="6267938" cy="1028425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69F45CC-EDE7-5D55-D1B7-2CD94FBFD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36" y="3715014"/>
            <a:ext cx="4178276" cy="32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9639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FA12A-B179-FF5E-7AC8-C225E4486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14CF3F-F2F1-F612-4E18-2D8A4B01D79C}"/>
              </a:ext>
            </a:extLst>
          </p:cNvPr>
          <p:cNvSpPr txBox="1"/>
          <p:nvPr/>
        </p:nvSpPr>
        <p:spPr>
          <a:xfrm>
            <a:off x="111125" y="169239"/>
            <a:ext cx="31321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Design resources comparison</a:t>
            </a:r>
            <a:endParaRPr lang="en-IL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C5AB32-24DD-7065-ACDF-006DB2FC7AA2}"/>
              </a:ext>
            </a:extLst>
          </p:cNvPr>
          <p:cNvSpPr txBox="1"/>
          <p:nvPr/>
        </p:nvSpPr>
        <p:spPr>
          <a:xfrm>
            <a:off x="36195" y="461682"/>
            <a:ext cx="20542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FF expected vs actual</a:t>
            </a:r>
            <a:endParaRPr lang="en-IL" sz="12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65F7C22-C90F-1647-48E6-4257CC4CF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91019"/>
              </p:ext>
            </p:extLst>
          </p:nvPr>
        </p:nvGraphicFramePr>
        <p:xfrm>
          <a:off x="270668" y="738679"/>
          <a:ext cx="6396831" cy="8998110"/>
        </p:xfrm>
        <a:graphic>
          <a:graphicData uri="http://schemas.openxmlformats.org/drawingml/2006/table">
            <a:tbl>
              <a:tblPr/>
              <a:tblGrid>
                <a:gridCol w="1403363">
                  <a:extLst>
                    <a:ext uri="{9D8B030D-6E8A-4147-A177-3AD203B41FA5}">
                      <a16:colId xmlns:a16="http://schemas.microsoft.com/office/drawing/2014/main" val="880525136"/>
                    </a:ext>
                  </a:extLst>
                </a:gridCol>
                <a:gridCol w="1477223">
                  <a:extLst>
                    <a:ext uri="{9D8B030D-6E8A-4147-A177-3AD203B41FA5}">
                      <a16:colId xmlns:a16="http://schemas.microsoft.com/office/drawing/2014/main" val="2853729031"/>
                    </a:ext>
                  </a:extLst>
                </a:gridCol>
                <a:gridCol w="886336">
                  <a:extLst>
                    <a:ext uri="{9D8B030D-6E8A-4147-A177-3AD203B41FA5}">
                      <a16:colId xmlns:a16="http://schemas.microsoft.com/office/drawing/2014/main" val="3635116779"/>
                    </a:ext>
                  </a:extLst>
                </a:gridCol>
                <a:gridCol w="1167008">
                  <a:extLst>
                    <a:ext uri="{9D8B030D-6E8A-4147-A177-3AD203B41FA5}">
                      <a16:colId xmlns:a16="http://schemas.microsoft.com/office/drawing/2014/main" val="450354638"/>
                    </a:ext>
                  </a:extLst>
                </a:gridCol>
                <a:gridCol w="1462901">
                  <a:extLst>
                    <a:ext uri="{9D8B030D-6E8A-4147-A177-3AD203B41FA5}">
                      <a16:colId xmlns:a16="http://schemas.microsoft.com/office/drawing/2014/main" val="1050690624"/>
                    </a:ext>
                  </a:extLst>
                </a:gridCol>
              </a:tblGrid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Module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Register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Planned_RTL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Actual_Synthesis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Status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873648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Rx_mac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frame_data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Opt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010982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Rx_mac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temp_frame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Opt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416762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Rx_mac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write_ptr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Opt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939645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Rx_phy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br16_acc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Opt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761939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Rx_phy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pst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FSM/Logic Expansion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951426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Rx_phy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temp_rx_vec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Opt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254317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TOP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sys_cfg_r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183143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Tx_mac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frame_to_send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Opt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970688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Tx_mac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o_tx_mac_ready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60970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Tx_phy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led_toggle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505443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Tx_phy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tx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Opt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690357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blue_pwm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pwm_counter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320235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blue_pwm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076008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disp_reg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hex_disp_vec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Opt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138861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fifo_asycn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fifo_ctrl_r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334760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fifo_asycn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o_data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750879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fifo_asycn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r_gray_meta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857256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fifo_asycn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r_ptr_bin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576926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fifo_asycn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r_ptr_gray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378526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fifo_asycn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r_ptr_gray_sync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800954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fifo_asycn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w_gray_meta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120808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fifo_asycn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w_ptr_bin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762782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fifo_asycn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w_ptr_gray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305668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fifo_asycn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w_ptr_gray_sync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149468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fifo_asycn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wait_write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535214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mem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477717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r_gray_meta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916605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r_ptr_bin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713188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r_ptr_gray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06663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r_ptr_gray_sync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495069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w_gray_meta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63847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w_ptr_bin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719158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w_ptr_gray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280477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w_ptr_gray_sync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776329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fifo_async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wait_write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3277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green_pwm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pwm_counter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689426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green_pwm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393569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blue_out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959571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blue_scale_in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548991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green_out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96508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green_scale_in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633122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red_out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279963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red_scale_in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794841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led16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blue_out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122912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led16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blue_scale_in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935442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led16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green_out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447586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led16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green_scale_in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890171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led16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red_out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3370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led16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red_scale_in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16451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led17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blue_out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991163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led17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blue_scale_in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291111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led17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green_out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668764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led17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green_scale_in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861946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led17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red_out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555098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led17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red_scale_in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782867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led_4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blue_out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30371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led_4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blue_scale_in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43496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led_4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green_out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18186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led_4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green_scale_in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730643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led_4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red_out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015155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led_4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red_scale_in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681187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pixel_mem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FSM/Logic Expansion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704082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pixel_mem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o_blue_data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410269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pixel_mem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o_green_data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Opt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152827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pixel_mem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o_red_data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988639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pwm_counter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117012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96270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pwm_2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pwm_counter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511711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pwm_2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467724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pwm_3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pwm_counter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172241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pwm_3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000861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pwm_wrapper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pwm_blue_r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Opt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908702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pwm_wrapper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pwm_green_r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Opt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577246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pwm_wrapper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pwm_red_r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Opt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463216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red_pwm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pwm_counter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21019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red_pwm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pwm_out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636610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rst_n_sync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ff0_sync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205135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rst_n_sync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rst_n_sync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156931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rst_n_sync_0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ff0_sync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50074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rst_n_sync_0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rst_n_sync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867628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rst_n_sync_1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ff0_sync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253772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rst_n_sync_1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rst_n_sync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952352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rst_n_sync_clk100M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ff0_sync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057510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rst_n_sync_clk100M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rst_n_sync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795240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rst_n_sync_sys_clk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ff0_sync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070831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rst_n_sync_sys_clk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rst_n_sync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279201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rst_n_sync_wiz_clk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ff0_sync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109739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rst_n_sync_wiz_clk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rst_n_sync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35386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scaling_factor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pipeline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809218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scaling_factor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scale_factor_out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09653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scaling_factor_5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pipeline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74759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scaling_factor_5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scale_factor_out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6729208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scaling_factor_6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pipeline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448038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scaling_factor_6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scale_factor_out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970572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scaling_factor_7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pipeline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113420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scaling_factor_7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scale_factor_out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005308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scaling_factor_blue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pipeline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991825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scaling_factor_blue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scale_factor_out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298294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scaling_factor_green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pipeline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389166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scaling_factor_green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scale_factor_out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671200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sequencer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fifo_din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Opt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257275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sequencer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i_fifo_blue_temp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783866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sequencer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i_fifo_red_temp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Optimized Out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234365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sequencer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img_tx_mon_r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Opt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032604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sequencer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r_col_latched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Opt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935975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sequencer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r_row_latched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Opt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911229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sequencer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tx_mac_vec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136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Partial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152379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top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sys_cfg_r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Inferred / Generated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46925"/>
                  </a:ext>
                </a:extLst>
              </a:tr>
              <a:tr h="818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=== TOTAL ===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2055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1538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L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1504" marR="1504" marT="15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039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3125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BFC4EF-8EFF-B2C9-4FAB-D273EA4D2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949732-4CC8-B6F4-2BFC-20D330E23580}"/>
              </a:ext>
            </a:extLst>
          </p:cNvPr>
          <p:cNvSpPr txBox="1"/>
          <p:nvPr/>
        </p:nvSpPr>
        <p:spPr>
          <a:xfrm>
            <a:off x="147638" y="2158269"/>
            <a:ext cx="1615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Simulation</a:t>
            </a:r>
            <a:endParaRPr lang="en-IL" sz="1600" b="1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7CD8FC-6098-86C6-388E-7DB4104381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9232" r="56" b="45384"/>
          <a:stretch>
            <a:fillRect/>
          </a:stretch>
        </p:blipFill>
        <p:spPr>
          <a:xfrm>
            <a:off x="427037" y="2536733"/>
            <a:ext cx="5785075" cy="15001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277025-6BF9-AE7F-0F90-6091CA40F653}"/>
              </a:ext>
            </a:extLst>
          </p:cNvPr>
          <p:cNvSpPr txBox="1"/>
          <p:nvPr/>
        </p:nvSpPr>
        <p:spPr>
          <a:xfrm>
            <a:off x="2511588" y="4036904"/>
            <a:ext cx="16159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 err="1"/>
              <a:t>Pixel_mem</a:t>
            </a:r>
            <a:r>
              <a:rPr lang="en-US" sz="900" b="1" dirty="0"/>
              <a:t> simulation </a:t>
            </a:r>
            <a:endParaRPr lang="en-IL" sz="9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73E176-6536-6D80-F805-8E5B4D22E133}"/>
              </a:ext>
            </a:extLst>
          </p:cNvPr>
          <p:cNvSpPr txBox="1"/>
          <p:nvPr/>
        </p:nvSpPr>
        <p:spPr>
          <a:xfrm>
            <a:off x="427037" y="97467"/>
            <a:ext cx="9556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Synthesis</a:t>
            </a:r>
            <a:endParaRPr lang="en-IL" sz="1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4DC2B1-434C-88FE-D41F-AA1D12775372}"/>
              </a:ext>
            </a:extLst>
          </p:cNvPr>
          <p:cNvSpPr txBox="1"/>
          <p:nvPr/>
        </p:nvSpPr>
        <p:spPr>
          <a:xfrm>
            <a:off x="3462793" y="97466"/>
            <a:ext cx="1329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Implementation</a:t>
            </a:r>
            <a:endParaRPr lang="en-IL" sz="1200" b="1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78B989-448B-D1CA-41B2-354BF0917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" y="590736"/>
            <a:ext cx="3116580" cy="1142064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73F931-A469-29C7-63FF-0D41AC5D8F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8173" y="568368"/>
            <a:ext cx="3020267" cy="110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9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3585</TotalTime>
  <Words>1511</Words>
  <Application>Microsoft Office PowerPoint</Application>
  <PresentationFormat>A4 Paper (210x297 mm)</PresentationFormat>
  <Paragraphs>585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Aptos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אופיר קבל</dc:creator>
  <cp:lastModifiedBy>אופיר קבל</cp:lastModifiedBy>
  <cp:revision>143</cp:revision>
  <dcterms:created xsi:type="dcterms:W3CDTF">2025-10-28T12:11:07Z</dcterms:created>
  <dcterms:modified xsi:type="dcterms:W3CDTF">2026-01-27T12:36:16Z</dcterms:modified>
</cp:coreProperties>
</file>